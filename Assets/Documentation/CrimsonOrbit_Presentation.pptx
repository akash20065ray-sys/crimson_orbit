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731520"/>
            <a:ext cx="10362895" cy="5394960"/>
          </a:xfrm>
          <a:prstGeom prst="roundRect">
            <a:avLst/>
          </a:prstGeom>
          <a:solidFill>
            <a:srgbClr val="191E2A"/>
          </a:solidFill>
          <a:ln w="31750">
            <a:solidFill>
              <a:srgbClr val="EB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051560"/>
            <a:ext cx="9448495" cy="411480"/>
          </a:xfrm>
          <a:prstGeom prst="rect">
            <a:avLst/>
          </a:prstGeom>
          <a:noFill/>
        </p:spPr>
        <p:txBody>
          <a:bodyPr wrap="none">
            <a:spAutoFit/>
          </a:bodyPr>
          <a:lstStyle/>
          <a:p>
            <a:pPr algn="ctr">
              <a:defRPr sz="1400" b="1">
                <a:solidFill>
                  <a:srgbClr val="FFB914"/>
                </a:solidFill>
              </a:defRPr>
            </a:pPr>
            <a:r>
              <a:t>VISHWAKARMA INSTITUTE OF TECHNOLOGY, PUNE</a:t>
            </a:r>
          </a:p>
        </p:txBody>
      </p:sp>
      <p:sp>
        <p:nvSpPr>
          <p:cNvPr id="5" name="TextBox 4"/>
          <p:cNvSpPr txBox="1"/>
          <p:nvPr/>
        </p:nvSpPr>
        <p:spPr>
          <a:xfrm>
            <a:off x="1371600" y="1508760"/>
            <a:ext cx="9448495" cy="1005840"/>
          </a:xfrm>
          <a:prstGeom prst="rect">
            <a:avLst/>
          </a:prstGeom>
          <a:noFill/>
        </p:spPr>
        <p:txBody>
          <a:bodyPr wrap="none">
            <a:spAutoFit/>
          </a:bodyPr>
          <a:lstStyle/>
          <a:p>
            <a:pPr algn="ctr">
              <a:defRPr sz="4800" b="1">
                <a:solidFill>
                  <a:srgbClr val="EB3C3C"/>
                </a:solidFill>
              </a:defRPr>
            </a:pPr>
            <a:r>
              <a:t>CRIMSON ORBIT</a:t>
            </a:r>
          </a:p>
        </p:txBody>
      </p:sp>
      <p:sp>
        <p:nvSpPr>
          <p:cNvPr id="6" name="TextBox 5"/>
          <p:cNvSpPr txBox="1"/>
          <p:nvPr/>
        </p:nvSpPr>
        <p:spPr>
          <a:xfrm>
            <a:off x="1371600" y="2514600"/>
            <a:ext cx="9448495" cy="640080"/>
          </a:xfrm>
          <a:prstGeom prst="rect">
            <a:avLst/>
          </a:prstGeom>
          <a:noFill/>
        </p:spPr>
        <p:txBody>
          <a:bodyPr wrap="none">
            <a:spAutoFit/>
          </a:bodyPr>
          <a:lstStyle/>
          <a:p>
            <a:pPr algn="ctr">
              <a:defRPr sz="2600" b="1">
                <a:solidFill>
                  <a:srgbClr val="FFB914"/>
                </a:solidFill>
              </a:defRPr>
            </a:pPr>
            <a:r>
              <a:t>MUSICAL BAND</a:t>
            </a:r>
          </a:p>
        </p:txBody>
      </p:sp>
      <p:sp>
        <p:nvSpPr>
          <p:cNvPr id="7" name="TextBox 6"/>
          <p:cNvSpPr txBox="1"/>
          <p:nvPr/>
        </p:nvSpPr>
        <p:spPr>
          <a:xfrm>
            <a:off x="1371600" y="3246120"/>
            <a:ext cx="9448495" cy="640080"/>
          </a:xfrm>
          <a:prstGeom prst="rect">
            <a:avLst/>
          </a:prstGeom>
          <a:noFill/>
        </p:spPr>
        <p:txBody>
          <a:bodyPr wrap="none">
            <a:spAutoFit/>
          </a:bodyPr>
          <a:lstStyle/>
          <a:p>
            <a:pPr algn="ctr">
              <a:defRPr sz="1600">
                <a:solidFill>
                  <a:srgbClr val="F5F5F8"/>
                </a:solidFill>
              </a:defRPr>
            </a:pPr>
            <a:r>
              <a:t>A Complete Musical Band Built in 8086 Assembly Language</a:t>
            </a:r>
          </a:p>
        </p:txBody>
      </p:sp>
      <p:sp>
        <p:nvSpPr>
          <p:cNvPr id="8" name="Rounded Rectangle 7"/>
          <p:cNvSpPr/>
          <p:nvPr/>
        </p:nvSpPr>
        <p:spPr>
          <a:xfrm>
            <a:off x="2286000" y="4114800"/>
            <a:ext cx="3566160" cy="685800"/>
          </a:xfrm>
          <a:prstGeom prst="roundRect">
            <a:avLst/>
          </a:prstGeom>
          <a:solidFill>
            <a:srgbClr val="141822"/>
          </a:solidFill>
          <a:ln w="19050">
            <a:solidFill>
              <a:srgbClr val="EB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5F5F8"/>
                </a:solidFill>
              </a:defRPr>
            </a:pPr>
            <a:r>
              <a:t>Presented By: GROUP - 9</a:t>
            </a:r>
          </a:p>
        </p:txBody>
      </p:sp>
      <p:sp>
        <p:nvSpPr>
          <p:cNvPr id="9" name="Rounded Rectangle 8"/>
          <p:cNvSpPr/>
          <p:nvPr/>
        </p:nvSpPr>
        <p:spPr>
          <a:xfrm>
            <a:off x="6309360" y="4114800"/>
            <a:ext cx="3566160" cy="685800"/>
          </a:xfrm>
          <a:prstGeom prst="roundRect">
            <a:avLst/>
          </a:prstGeom>
          <a:solidFill>
            <a:srgbClr val="141822"/>
          </a:solidFill>
          <a:ln w="19050">
            <a:solidFill>
              <a:srgbClr val="EB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B914"/>
                </a:solidFill>
              </a:defRPr>
            </a:pPr>
            <a:r>
              <a:t>Guide: Prof. Gopal Upadhye</a:t>
            </a:r>
          </a:p>
        </p:txBody>
      </p:sp>
      <p:sp>
        <p:nvSpPr>
          <p:cNvPr id="10" name="TextBox 9"/>
          <p:cNvSpPr txBox="1"/>
          <p:nvPr/>
        </p:nvSpPr>
        <p:spPr>
          <a:xfrm>
            <a:off x="1371600" y="5166360"/>
            <a:ext cx="9448495" cy="457200"/>
          </a:xfrm>
          <a:prstGeom prst="rect">
            <a:avLst/>
          </a:prstGeom>
          <a:noFill/>
        </p:spPr>
        <p:txBody>
          <a:bodyPr wrap="none">
            <a:spAutoFit/>
          </a:bodyPr>
          <a:lstStyle/>
          <a:p>
            <a:pPr algn="ctr">
              <a:defRPr sz="1100">
                <a:solidFill>
                  <a:srgbClr val="AAAFBE"/>
                </a:solidFill>
              </a:defRPr>
            </a:pPr>
            <a:r>
              <a:t>07/09/2026   •   Primary Platform: emu8086   •   Audio Extension: HTML/CSS/JS Studio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none">
            <a:spAutoFit/>
          </a:bodyPr>
          <a:lstStyle/>
          <a:p>
            <a:pPr>
              <a:defRPr sz="1100" b="1">
                <a:solidFill>
                  <a:srgbClr val="FFB914"/>
                </a:solidFill>
              </a:defRPr>
            </a:pPr>
            <a:r>
              <a:t>VISHWAKARMA INSTITUTE OF TECHNOLOGY, PUNE • GROUP - 9</a:t>
            </a:r>
          </a:p>
        </p:txBody>
      </p:sp>
      <p:sp>
        <p:nvSpPr>
          <p:cNvPr id="4" name="TextBox 3"/>
          <p:cNvSpPr txBox="1"/>
          <p:nvPr/>
        </p:nvSpPr>
        <p:spPr>
          <a:xfrm>
            <a:off x="731520" y="640080"/>
            <a:ext cx="10515600" cy="594360"/>
          </a:xfrm>
          <a:prstGeom prst="rect">
            <a:avLst/>
          </a:prstGeom>
          <a:noFill/>
        </p:spPr>
        <p:txBody>
          <a:bodyPr wrap="none">
            <a:spAutoFit/>
          </a:bodyPr>
          <a:lstStyle/>
          <a:p>
            <a:pPr>
              <a:defRPr sz="2500" b="1">
                <a:solidFill>
                  <a:srgbClr val="F5F5F8"/>
                </a:solidFill>
              </a:defRPr>
            </a:pPr>
            <a:r>
              <a:t>TEAM MEMBERS</a:t>
            </a:r>
          </a:p>
        </p:txBody>
      </p:sp>
      <p:sp>
        <p:nvSpPr>
          <p:cNvPr id="5" name="Rectangle 4"/>
          <p:cNvSpPr/>
          <p:nvPr/>
        </p:nvSpPr>
        <p:spPr>
          <a:xfrm>
            <a:off x="731520" y="1280160"/>
            <a:ext cx="10728655" cy="27432"/>
          </a:xfrm>
          <a:prstGeom prst="rect">
            <a:avLst/>
          </a:prstGeom>
          <a:solidFill>
            <a:srgbClr val="EB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1280160" y="1645920"/>
          <a:ext cx="9631375" cy="4389120"/>
        </p:xfrm>
        <a:graphic>
          <a:graphicData uri="http://schemas.openxmlformats.org/drawingml/2006/table">
            <a:tbl>
              <a:tblPr firstRow="1" bandRow="1">
                <a:tableStyleId>{5C22544A-7EE6-4342-B048-85BDC9FD1C3A}</a:tableStyleId>
              </a:tblPr>
              <a:tblGrid>
                <a:gridCol w="2011680"/>
                <a:gridCol w="5029200"/>
                <a:gridCol w="2590495"/>
              </a:tblGrid>
              <a:tr h="731520">
                <a:tc>
                  <a:txBody>
                    <a:bodyPr/>
                    <a:lstStyle/>
                    <a:p>
                      <a:pPr algn="ctr">
                        <a:defRPr sz="1500" b="1">
                          <a:solidFill>
                            <a:srgbClr val="F5F5F8"/>
                          </a:solidFill>
                          <a:latin typeface="Arial"/>
                        </a:defRPr>
                      </a:pPr>
                      <a:r>
                        <a:t>ROLL NO.</a:t>
                      </a:r>
                    </a:p>
                  </a:txBody>
                  <a:tcPr anchor="ctr">
                    <a:solidFill>
                      <a:srgbClr val="EB3C3C"/>
                    </a:solidFill>
                  </a:tcPr>
                </a:tc>
                <a:tc>
                  <a:txBody>
                    <a:bodyPr/>
                    <a:lstStyle/>
                    <a:p>
                      <a:pPr algn="ctr">
                        <a:defRPr sz="1500" b="1">
                          <a:solidFill>
                            <a:srgbClr val="F5F5F8"/>
                          </a:solidFill>
                          <a:latin typeface="Arial"/>
                        </a:defRPr>
                      </a:pPr>
                      <a:r>
                        <a:t>NAME</a:t>
                      </a:r>
                    </a:p>
                  </a:txBody>
                  <a:tcPr anchor="ctr">
                    <a:solidFill>
                      <a:srgbClr val="EB3C3C"/>
                    </a:solidFill>
                  </a:tcPr>
                </a:tc>
                <a:tc>
                  <a:txBody>
                    <a:bodyPr/>
                    <a:lstStyle/>
                    <a:p>
                      <a:pPr algn="ctr">
                        <a:defRPr sz="1500" b="1">
                          <a:solidFill>
                            <a:srgbClr val="F5F5F8"/>
                          </a:solidFill>
                          <a:latin typeface="Arial"/>
                        </a:defRPr>
                      </a:pPr>
                      <a:r>
                        <a:t>PRN</a:t>
                      </a:r>
                    </a:p>
                  </a:txBody>
                  <a:tcPr anchor="ctr">
                    <a:solidFill>
                      <a:srgbClr val="EB3C3C"/>
                    </a:solidFill>
                  </a:tcPr>
                </a:tc>
              </a:tr>
              <a:tr h="731520">
                <a:tc>
                  <a:txBody>
                    <a:bodyPr/>
                    <a:lstStyle/>
                    <a:p>
                      <a:pPr algn="ctr">
                        <a:defRPr sz="1500" b="1">
                          <a:solidFill>
                            <a:srgbClr val="FFB914"/>
                          </a:solidFill>
                          <a:latin typeface="Arial"/>
                        </a:defRPr>
                      </a:pPr>
                      <a:r>
                        <a:t>4</a:t>
                      </a:r>
                    </a:p>
                  </a:txBody>
                  <a:tcPr anchor="ctr">
                    <a:solidFill>
                      <a:srgbClr val="191E2A"/>
                    </a:solidFill>
                  </a:tcPr>
                </a:tc>
                <a:tc>
                  <a:txBody>
                    <a:bodyPr/>
                    <a:lstStyle/>
                    <a:p>
                      <a:pPr algn="l">
                        <a:defRPr sz="1500" b="1">
                          <a:solidFill>
                            <a:srgbClr val="F5F5F8"/>
                          </a:solidFill>
                          <a:latin typeface="Arial"/>
                        </a:defRPr>
                      </a:pPr>
                      <a:r>
                        <a:t>Agaldare Ghansham Dilip</a:t>
                      </a:r>
                    </a:p>
                  </a:txBody>
                  <a:tcPr anchor="ctr">
                    <a:solidFill>
                      <a:srgbClr val="191E2A"/>
                    </a:solidFill>
                  </a:tcPr>
                </a:tc>
                <a:tc>
                  <a:txBody>
                    <a:bodyPr/>
                    <a:lstStyle/>
                    <a:p>
                      <a:pPr algn="ctr">
                        <a:defRPr sz="1500" b="0">
                          <a:solidFill>
                            <a:srgbClr val="00D7FF"/>
                          </a:solidFill>
                          <a:latin typeface="Arial"/>
                        </a:defRPr>
                      </a:pPr>
                      <a:r>
                        <a:t>1251010321</a:t>
                      </a:r>
                    </a:p>
                  </a:txBody>
                  <a:tcPr anchor="ctr">
                    <a:solidFill>
                      <a:srgbClr val="191E2A"/>
                    </a:solidFill>
                  </a:tcPr>
                </a:tc>
              </a:tr>
              <a:tr h="731520">
                <a:tc>
                  <a:txBody>
                    <a:bodyPr/>
                    <a:lstStyle/>
                    <a:p>
                      <a:pPr algn="ctr">
                        <a:defRPr sz="1500" b="1">
                          <a:solidFill>
                            <a:srgbClr val="FFB914"/>
                          </a:solidFill>
                          <a:latin typeface="Arial"/>
                        </a:defRPr>
                      </a:pPr>
                      <a:r>
                        <a:t>7</a:t>
                      </a:r>
                    </a:p>
                  </a:txBody>
                  <a:tcPr anchor="ctr">
                    <a:solidFill>
                      <a:srgbClr val="141822"/>
                    </a:solidFill>
                  </a:tcPr>
                </a:tc>
                <a:tc>
                  <a:txBody>
                    <a:bodyPr/>
                    <a:lstStyle/>
                    <a:p>
                      <a:pPr algn="l">
                        <a:defRPr sz="1500" b="1">
                          <a:solidFill>
                            <a:srgbClr val="F5F5F8"/>
                          </a:solidFill>
                          <a:latin typeface="Arial"/>
                        </a:defRPr>
                      </a:pPr>
                      <a:r>
                        <a:t>Aher Krishna Gorakh</a:t>
                      </a:r>
                    </a:p>
                  </a:txBody>
                  <a:tcPr anchor="ctr">
                    <a:solidFill>
                      <a:srgbClr val="141822"/>
                    </a:solidFill>
                  </a:tcPr>
                </a:tc>
                <a:tc>
                  <a:txBody>
                    <a:bodyPr/>
                    <a:lstStyle/>
                    <a:p>
                      <a:pPr algn="ctr">
                        <a:defRPr sz="1500" b="0">
                          <a:solidFill>
                            <a:srgbClr val="00D7FF"/>
                          </a:solidFill>
                          <a:latin typeface="Arial"/>
                        </a:defRPr>
                      </a:pPr>
                      <a:r>
                        <a:t>1251010727</a:t>
                      </a:r>
                    </a:p>
                  </a:txBody>
                  <a:tcPr anchor="ctr">
                    <a:solidFill>
                      <a:srgbClr val="141822"/>
                    </a:solidFill>
                  </a:tcPr>
                </a:tc>
              </a:tr>
              <a:tr h="731520">
                <a:tc>
                  <a:txBody>
                    <a:bodyPr/>
                    <a:lstStyle/>
                    <a:p>
                      <a:pPr algn="ctr">
                        <a:defRPr sz="1500" b="1">
                          <a:solidFill>
                            <a:srgbClr val="FFB914"/>
                          </a:solidFill>
                          <a:latin typeface="Arial"/>
                        </a:defRPr>
                      </a:pPr>
                      <a:r>
                        <a:t>9</a:t>
                      </a:r>
                    </a:p>
                  </a:txBody>
                  <a:tcPr anchor="ctr">
                    <a:solidFill>
                      <a:srgbClr val="191E2A"/>
                    </a:solidFill>
                  </a:tcPr>
                </a:tc>
                <a:tc>
                  <a:txBody>
                    <a:bodyPr/>
                    <a:lstStyle/>
                    <a:p>
                      <a:pPr algn="l">
                        <a:defRPr sz="1500" b="1">
                          <a:solidFill>
                            <a:srgbClr val="F5F5F8"/>
                          </a:solidFill>
                          <a:latin typeface="Arial"/>
                        </a:defRPr>
                      </a:pPr>
                      <a:r>
                        <a:t>Akash Kumar</a:t>
                      </a:r>
                    </a:p>
                  </a:txBody>
                  <a:tcPr anchor="ctr">
                    <a:solidFill>
                      <a:srgbClr val="191E2A"/>
                    </a:solidFill>
                  </a:tcPr>
                </a:tc>
                <a:tc>
                  <a:txBody>
                    <a:bodyPr/>
                    <a:lstStyle/>
                    <a:p>
                      <a:pPr algn="ctr">
                        <a:defRPr sz="1500" b="0">
                          <a:solidFill>
                            <a:srgbClr val="00D7FF"/>
                          </a:solidFill>
                          <a:latin typeface="Arial"/>
                        </a:defRPr>
                      </a:pPr>
                      <a:r>
                        <a:t>1251010761</a:t>
                      </a:r>
                    </a:p>
                  </a:txBody>
                  <a:tcPr anchor="ctr">
                    <a:solidFill>
                      <a:srgbClr val="191E2A"/>
                    </a:solidFill>
                  </a:tcPr>
                </a:tc>
              </a:tr>
              <a:tr h="731520">
                <a:tc>
                  <a:txBody>
                    <a:bodyPr/>
                    <a:lstStyle/>
                    <a:p>
                      <a:pPr algn="ctr">
                        <a:defRPr sz="1500" b="1">
                          <a:solidFill>
                            <a:srgbClr val="FFB914"/>
                          </a:solidFill>
                          <a:latin typeface="Arial"/>
                        </a:defRPr>
                      </a:pPr>
                      <a:r>
                        <a:t>38</a:t>
                      </a:r>
                    </a:p>
                  </a:txBody>
                  <a:tcPr anchor="ctr">
                    <a:solidFill>
                      <a:srgbClr val="141822"/>
                    </a:solidFill>
                  </a:tcPr>
                </a:tc>
                <a:tc>
                  <a:txBody>
                    <a:bodyPr/>
                    <a:lstStyle/>
                    <a:p>
                      <a:pPr algn="l">
                        <a:defRPr sz="1500" b="1">
                          <a:solidFill>
                            <a:srgbClr val="F5F5F8"/>
                          </a:solidFill>
                          <a:latin typeface="Arial"/>
                        </a:defRPr>
                      </a:pPr>
                      <a:r>
                        <a:t>Bhargude Sanskar Sandip</a:t>
                      </a:r>
                    </a:p>
                  </a:txBody>
                  <a:tcPr anchor="ctr">
                    <a:solidFill>
                      <a:srgbClr val="141822"/>
                    </a:solidFill>
                  </a:tcPr>
                </a:tc>
                <a:tc>
                  <a:txBody>
                    <a:bodyPr/>
                    <a:lstStyle/>
                    <a:p>
                      <a:pPr algn="ctr">
                        <a:defRPr sz="1500" b="0">
                          <a:solidFill>
                            <a:srgbClr val="00D7FF"/>
                          </a:solidFill>
                          <a:latin typeface="Arial"/>
                        </a:defRPr>
                      </a:pPr>
                      <a:r>
                        <a:t>1251010716</a:t>
                      </a:r>
                    </a:p>
                  </a:txBody>
                  <a:tcPr anchor="ctr">
                    <a:solidFill>
                      <a:srgbClr val="141822"/>
                    </a:solidFill>
                  </a:tcPr>
                </a:tc>
              </a:tr>
              <a:tr h="731520">
                <a:tc>
                  <a:txBody>
                    <a:bodyPr/>
                    <a:lstStyle/>
                    <a:p>
                      <a:pPr algn="ctr">
                        <a:defRPr sz="1500" b="1">
                          <a:solidFill>
                            <a:srgbClr val="FFB914"/>
                          </a:solidFill>
                          <a:latin typeface="Arial"/>
                        </a:defRPr>
                      </a:pPr>
                      <a:r>
                        <a:t>49</a:t>
                      </a:r>
                    </a:p>
                  </a:txBody>
                  <a:tcPr anchor="ctr">
                    <a:solidFill>
                      <a:srgbClr val="191E2A"/>
                    </a:solidFill>
                  </a:tcPr>
                </a:tc>
                <a:tc>
                  <a:txBody>
                    <a:bodyPr/>
                    <a:lstStyle/>
                    <a:p>
                      <a:pPr algn="l">
                        <a:defRPr sz="1500" b="1">
                          <a:solidFill>
                            <a:srgbClr val="F5F5F8"/>
                          </a:solidFill>
                          <a:latin typeface="Arial"/>
                        </a:defRPr>
                      </a:pPr>
                      <a:r>
                        <a:t>Hari Ratnakar Birare</a:t>
                      </a:r>
                    </a:p>
                  </a:txBody>
                  <a:tcPr anchor="ctr">
                    <a:solidFill>
                      <a:srgbClr val="191E2A"/>
                    </a:solidFill>
                  </a:tcPr>
                </a:tc>
                <a:tc>
                  <a:txBody>
                    <a:bodyPr/>
                    <a:lstStyle/>
                    <a:p>
                      <a:pPr algn="ctr">
                        <a:defRPr sz="1500" b="0">
                          <a:solidFill>
                            <a:srgbClr val="00D7FF"/>
                          </a:solidFill>
                          <a:latin typeface="Arial"/>
                        </a:defRPr>
                      </a:pPr>
                      <a:r>
                        <a:t>1251010693</a:t>
                      </a:r>
                    </a:p>
                  </a:txBody>
                  <a:tcPr anchor="ctr">
                    <a:solidFill>
                      <a:srgbClr val="191E2A"/>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none">
            <a:spAutoFit/>
          </a:bodyPr>
          <a:lstStyle/>
          <a:p>
            <a:pPr>
              <a:defRPr sz="1100" b="1">
                <a:solidFill>
                  <a:srgbClr val="FFB914"/>
                </a:solidFill>
              </a:defRPr>
            </a:pPr>
            <a:r>
              <a:t>MICROPROCESSOR PROJECT • GROUP - 9</a:t>
            </a:r>
          </a:p>
        </p:txBody>
      </p:sp>
      <p:sp>
        <p:nvSpPr>
          <p:cNvPr id="4" name="TextBox 3"/>
          <p:cNvSpPr txBox="1"/>
          <p:nvPr/>
        </p:nvSpPr>
        <p:spPr>
          <a:xfrm>
            <a:off x="731520" y="640080"/>
            <a:ext cx="10515600" cy="594360"/>
          </a:xfrm>
          <a:prstGeom prst="rect">
            <a:avLst/>
          </a:prstGeom>
          <a:noFill/>
        </p:spPr>
        <p:txBody>
          <a:bodyPr wrap="none">
            <a:spAutoFit/>
          </a:bodyPr>
          <a:lstStyle/>
          <a:p>
            <a:pPr>
              <a:defRPr sz="2500" b="1">
                <a:solidFill>
                  <a:srgbClr val="F5F5F8"/>
                </a:solidFill>
              </a:defRPr>
            </a:pPr>
            <a:r>
              <a:t>Project Workflow — How We Planned &amp; Built It</a:t>
            </a:r>
          </a:p>
        </p:txBody>
      </p:sp>
      <p:sp>
        <p:nvSpPr>
          <p:cNvPr id="5" name="Rectangle 4"/>
          <p:cNvSpPr/>
          <p:nvPr/>
        </p:nvSpPr>
        <p:spPr>
          <a:xfrm>
            <a:off x="731520" y="1280160"/>
            <a:ext cx="10728655" cy="27432"/>
          </a:xfrm>
          <a:prstGeom prst="rect">
            <a:avLst/>
          </a:prstGeom>
          <a:solidFill>
            <a:srgbClr val="EB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251460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27632"/>
            <a:ext cx="2057400" cy="365760"/>
          </a:xfrm>
          <a:prstGeom prst="rect">
            <a:avLst/>
          </a:prstGeom>
          <a:noFill/>
        </p:spPr>
        <p:txBody>
          <a:bodyPr wrap="none">
            <a:spAutoFit/>
          </a:bodyPr>
          <a:lstStyle/>
          <a:p>
            <a:pPr>
              <a:defRPr sz="1700" b="1">
                <a:solidFill>
                  <a:srgbClr val="EB3C3C"/>
                </a:solidFill>
              </a:defRPr>
            </a:pPr>
            <a:r>
              <a:t>Step 1: Idea &amp; Research</a:t>
            </a:r>
          </a:p>
        </p:txBody>
      </p:sp>
      <p:sp>
        <p:nvSpPr>
          <p:cNvPr id="8" name="TextBox 7"/>
          <p:cNvSpPr txBox="1"/>
          <p:nvPr/>
        </p:nvSpPr>
        <p:spPr>
          <a:xfrm>
            <a:off x="960120" y="1965960"/>
            <a:ext cx="2057400" cy="274320"/>
          </a:xfrm>
          <a:prstGeom prst="rect">
            <a:avLst/>
          </a:prstGeom>
          <a:noFill/>
        </p:spPr>
        <p:txBody>
          <a:bodyPr wrap="none">
            <a:spAutoFit/>
          </a:bodyPr>
          <a:lstStyle/>
          <a:p>
            <a:pPr>
              <a:defRPr sz="1100">
                <a:solidFill>
                  <a:srgbClr val="AAAFBE"/>
                </a:solidFill>
              </a:defRPr>
            </a:pPr>
            <a:r>
              <a:t>Concept &amp; Discovery</a:t>
            </a:r>
          </a:p>
        </p:txBody>
      </p:sp>
      <p:sp>
        <p:nvSpPr>
          <p:cNvPr id="9" name="TextBox 8"/>
          <p:cNvSpPr txBox="1"/>
          <p:nvPr/>
        </p:nvSpPr>
        <p:spPr>
          <a:xfrm>
            <a:off x="960120" y="2240280"/>
            <a:ext cx="2057400" cy="3931920"/>
          </a:xfrm>
          <a:prstGeom prst="rect">
            <a:avLst/>
          </a:prstGeom>
          <a:noFill/>
        </p:spPr>
        <p:txBody>
          <a:bodyPr wrap="square">
            <a:spAutoFit/>
          </a:bodyPr>
          <a:lstStyle/>
          <a:p>
            <a:pPr>
              <a:spcAft>
                <a:spcPts val="700"/>
              </a:spcAft>
              <a:defRPr sz="1300">
                <a:solidFill>
                  <a:srgbClr val="F5F5F8"/>
                </a:solidFill>
              </a:defRPr>
            </a:pPr>
            <a:r>
              <a:t>•  Wanted to make an interactive musical project instead of a simple calculator.</a:t>
            </a:r>
          </a:p>
          <a:p>
            <a:pPr>
              <a:spcAft>
                <a:spcPts val="700"/>
              </a:spcAft>
              <a:defRPr sz="1300">
                <a:solidFill>
                  <a:srgbClr val="F5F5F8"/>
                </a:solidFill>
              </a:defRPr>
            </a:pPr>
            <a:r>
              <a:t>•  Researched computer PC speaker sound in emu8086: confirmed it can play sound frequencies through computer speakers.</a:t>
            </a:r>
          </a:p>
          <a:p>
            <a:pPr>
              <a:spcAft>
                <a:spcPts val="700"/>
              </a:spcAft>
              <a:defRPr sz="1300">
                <a:solidFill>
                  <a:srgbClr val="F5F5F8"/>
                </a:solidFill>
              </a:defRPr>
            </a:pPr>
            <a:r>
              <a:t>•  Identified key limitation: the PC speaker in emu8086 only makes electronic beeps, not realistic instruments.</a:t>
            </a:r>
          </a:p>
          <a:p>
            <a:pPr>
              <a:spcAft>
                <a:spcPts val="700"/>
              </a:spcAft>
              <a:defRPr sz="1300">
                <a:solidFill>
                  <a:srgbClr val="F5F5F8"/>
                </a:solidFill>
              </a:defRPr>
            </a:pPr>
            <a:r>
              <a:t>•  Project Strategy: Build BOTH the assembly code in emu8086 AND a realistic studio in HTML/CSS/JS.</a:t>
            </a:r>
          </a:p>
        </p:txBody>
      </p:sp>
      <p:sp>
        <p:nvSpPr>
          <p:cNvPr id="10" name="Rounded Rectangle 9"/>
          <p:cNvSpPr/>
          <p:nvPr/>
        </p:nvSpPr>
        <p:spPr>
          <a:xfrm>
            <a:off x="3429000" y="1463040"/>
            <a:ext cx="251460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627632"/>
            <a:ext cx="2057400" cy="365760"/>
          </a:xfrm>
          <a:prstGeom prst="rect">
            <a:avLst/>
          </a:prstGeom>
          <a:noFill/>
        </p:spPr>
        <p:txBody>
          <a:bodyPr wrap="none">
            <a:spAutoFit/>
          </a:bodyPr>
          <a:lstStyle/>
          <a:p>
            <a:pPr>
              <a:defRPr sz="1700" b="1">
                <a:solidFill>
                  <a:srgbClr val="FFB914"/>
                </a:solidFill>
              </a:defRPr>
            </a:pPr>
            <a:r>
              <a:t>Step 2: Coding in emu8086</a:t>
            </a:r>
          </a:p>
        </p:txBody>
      </p:sp>
      <p:sp>
        <p:nvSpPr>
          <p:cNvPr id="12" name="TextBox 11"/>
          <p:cNvSpPr txBox="1"/>
          <p:nvPr/>
        </p:nvSpPr>
        <p:spPr>
          <a:xfrm>
            <a:off x="3657600" y="1965960"/>
            <a:ext cx="2057400" cy="274320"/>
          </a:xfrm>
          <a:prstGeom prst="rect">
            <a:avLst/>
          </a:prstGeom>
          <a:noFill/>
        </p:spPr>
        <p:txBody>
          <a:bodyPr wrap="none">
            <a:spAutoFit/>
          </a:bodyPr>
          <a:lstStyle/>
          <a:p>
            <a:pPr>
              <a:defRPr sz="1100">
                <a:solidFill>
                  <a:srgbClr val="AAAFBE"/>
                </a:solidFill>
              </a:defRPr>
            </a:pPr>
            <a:r>
              <a:t>Modular Assembly Development</a:t>
            </a:r>
          </a:p>
        </p:txBody>
      </p:sp>
      <p:sp>
        <p:nvSpPr>
          <p:cNvPr id="13" name="TextBox 12"/>
          <p:cNvSpPr txBox="1"/>
          <p:nvPr/>
        </p:nvSpPr>
        <p:spPr>
          <a:xfrm>
            <a:off x="3657600" y="2240280"/>
            <a:ext cx="2057400" cy="3931920"/>
          </a:xfrm>
          <a:prstGeom prst="rect">
            <a:avLst/>
          </a:prstGeom>
          <a:noFill/>
        </p:spPr>
        <p:txBody>
          <a:bodyPr wrap="square">
            <a:spAutoFit/>
          </a:bodyPr>
          <a:lstStyle/>
          <a:p>
            <a:pPr>
              <a:spcAft>
                <a:spcPts val="700"/>
              </a:spcAft>
              <a:defRPr sz="1300">
                <a:solidFill>
                  <a:srgbClr val="F5F5F8"/>
                </a:solidFill>
              </a:defRPr>
            </a:pPr>
            <a:r>
              <a:t>•  Wrote the entire assembly code directly for emu8086 emulator.</a:t>
            </a:r>
          </a:p>
          <a:p>
            <a:pPr>
              <a:spcAft>
                <a:spcPts val="700"/>
              </a:spcAft>
              <a:defRPr sz="1300">
                <a:solidFill>
                  <a:srgbClr val="F5F5F8"/>
                </a:solidFill>
              </a:defRPr>
            </a:pPr>
            <a:r>
              <a:t>•  Divided the band into independent modules:</a:t>
            </a:r>
          </a:p>
          <a:p>
            <a:pPr>
              <a:spcAft>
                <a:spcPts val="700"/>
              </a:spcAft>
              <a:defRPr sz="1300">
                <a:solidFill>
                  <a:srgbClr val="F5F5F8"/>
                </a:solidFill>
              </a:defRPr>
            </a:pPr>
            <a:r>
              <a:t>•  • Concert Piano keys and sustain logic.</a:t>
            </a:r>
          </a:p>
          <a:p>
            <a:pPr>
              <a:spcAft>
                <a:spcPts val="700"/>
              </a:spcAft>
              <a:defRPr sz="1300">
                <a:solidFill>
                  <a:srgbClr val="F5F5F8"/>
                </a:solidFill>
              </a:defRPr>
            </a:pPr>
            <a:r>
              <a:t>•  • 6-string Guitar tuning and strumming.</a:t>
            </a:r>
          </a:p>
          <a:p>
            <a:pPr>
              <a:spcAft>
                <a:spcPts val="700"/>
              </a:spcAft>
              <a:defRPr sz="1300">
                <a:solidFill>
                  <a:srgbClr val="F5F5F8"/>
                </a:solidFill>
              </a:defRPr>
            </a:pPr>
            <a:r>
              <a:t>•  • Drum kit white noise and percussion.</a:t>
            </a:r>
          </a:p>
          <a:p>
            <a:pPr>
              <a:spcAft>
                <a:spcPts val="700"/>
              </a:spcAft>
              <a:defRPr sz="1300">
                <a:solidFill>
                  <a:srgbClr val="F5F5F8"/>
                </a:solidFill>
              </a:defRPr>
            </a:pPr>
            <a:r>
              <a:t>•  • Classical songs repertoire and timing loops.</a:t>
            </a:r>
          </a:p>
          <a:p>
            <a:pPr>
              <a:spcAft>
                <a:spcPts val="700"/>
              </a:spcAft>
              <a:defRPr sz="1300">
                <a:solidFill>
                  <a:srgbClr val="F5F5F8"/>
                </a:solidFill>
              </a:defRPr>
            </a:pPr>
            <a:r>
              <a:t>•  Tested everything using emu8086 'Emulate' and 'Run'.</a:t>
            </a:r>
          </a:p>
        </p:txBody>
      </p:sp>
      <p:sp>
        <p:nvSpPr>
          <p:cNvPr id="14" name="Rounded Rectangle 13"/>
          <p:cNvSpPr/>
          <p:nvPr/>
        </p:nvSpPr>
        <p:spPr>
          <a:xfrm>
            <a:off x="6126480" y="1463040"/>
            <a:ext cx="251460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627632"/>
            <a:ext cx="2057400" cy="365760"/>
          </a:xfrm>
          <a:prstGeom prst="rect">
            <a:avLst/>
          </a:prstGeom>
          <a:noFill/>
        </p:spPr>
        <p:txBody>
          <a:bodyPr wrap="none">
            <a:spAutoFit/>
          </a:bodyPr>
          <a:lstStyle/>
          <a:p>
            <a:pPr>
              <a:defRPr sz="1700" b="1">
                <a:solidFill>
                  <a:srgbClr val="00D7FF"/>
                </a:solidFill>
              </a:defRPr>
            </a:pPr>
            <a:r>
              <a:t>Step 3: Finding Real Sounds</a:t>
            </a:r>
          </a:p>
        </p:txBody>
      </p:sp>
      <p:sp>
        <p:nvSpPr>
          <p:cNvPr id="16" name="TextBox 15"/>
          <p:cNvSpPr txBox="1"/>
          <p:nvPr/>
        </p:nvSpPr>
        <p:spPr>
          <a:xfrm>
            <a:off x="6355080" y="1965960"/>
            <a:ext cx="2057400" cy="274320"/>
          </a:xfrm>
          <a:prstGeom prst="rect">
            <a:avLst/>
          </a:prstGeom>
          <a:noFill/>
        </p:spPr>
        <p:txBody>
          <a:bodyPr wrap="none">
            <a:spAutoFit/>
          </a:bodyPr>
          <a:lstStyle/>
          <a:p>
            <a:pPr>
              <a:defRPr sz="1100">
                <a:solidFill>
                  <a:srgbClr val="AAAFBE"/>
                </a:solidFill>
              </a:defRPr>
            </a:pPr>
            <a:r>
              <a:t>Online Sound Sourcing</a:t>
            </a:r>
          </a:p>
        </p:txBody>
      </p:sp>
      <p:sp>
        <p:nvSpPr>
          <p:cNvPr id="17" name="TextBox 16"/>
          <p:cNvSpPr txBox="1"/>
          <p:nvPr/>
        </p:nvSpPr>
        <p:spPr>
          <a:xfrm>
            <a:off x="6355080" y="2240280"/>
            <a:ext cx="2057400" cy="3931920"/>
          </a:xfrm>
          <a:prstGeom prst="rect">
            <a:avLst/>
          </a:prstGeom>
          <a:noFill/>
        </p:spPr>
        <p:txBody>
          <a:bodyPr wrap="square">
            <a:spAutoFit/>
          </a:bodyPr>
          <a:lstStyle/>
          <a:p>
            <a:pPr>
              <a:spcAft>
                <a:spcPts val="700"/>
              </a:spcAft>
              <a:defRPr sz="1300">
                <a:solidFill>
                  <a:srgbClr val="F5F5F8"/>
                </a:solidFill>
              </a:defRPr>
            </a:pPr>
            <a:r>
              <a:t>•  Searched online for genuine studio-recorded instrument sound archives.</a:t>
            </a:r>
          </a:p>
          <a:p>
            <a:pPr>
              <a:spcAft>
                <a:spcPts val="700"/>
              </a:spcAft>
              <a:defRPr sz="1300">
                <a:solidFill>
                  <a:srgbClr val="F5F5F8"/>
                </a:solidFill>
              </a:defRPr>
            </a:pPr>
            <a:r>
              <a:t>•  Sourced 28 authentic audio files:</a:t>
            </a:r>
          </a:p>
          <a:p>
            <a:pPr>
              <a:spcAft>
                <a:spcPts val="700"/>
              </a:spcAft>
              <a:defRPr sz="1300">
                <a:solidFill>
                  <a:srgbClr val="F5F5F8"/>
                </a:solidFill>
              </a:defRPr>
            </a:pPr>
            <a:r>
              <a:t>•  • Real Steinway Grand Piano notes.</a:t>
            </a:r>
          </a:p>
          <a:p>
            <a:pPr>
              <a:spcAft>
                <a:spcPts val="700"/>
              </a:spcAft>
              <a:defRPr sz="1300">
                <a:solidFill>
                  <a:srgbClr val="F5F5F8"/>
                </a:solidFill>
              </a:defRPr>
            </a:pPr>
            <a:r>
              <a:t>•  • Real Martin Acoustic Guitar strings &amp; chords.</a:t>
            </a:r>
          </a:p>
          <a:p>
            <a:pPr>
              <a:spcAft>
                <a:spcPts val="700"/>
              </a:spcAft>
              <a:defRPr sz="1300">
                <a:solidFill>
                  <a:srgbClr val="F5F5F8"/>
                </a:solidFill>
              </a:defRPr>
            </a:pPr>
            <a:r>
              <a:t>•  • Real Ludwig Studio Drums (Kick, Snare, Hi-Hat, Crash).</a:t>
            </a:r>
          </a:p>
          <a:p>
            <a:pPr>
              <a:spcAft>
                <a:spcPts val="700"/>
              </a:spcAft>
              <a:defRPr sz="1300">
                <a:solidFill>
                  <a:srgbClr val="F5F5F8"/>
                </a:solidFill>
              </a:defRPr>
            </a:pPr>
            <a:r>
              <a:t>•  Saved all sounds cleanly inside our project.</a:t>
            </a:r>
          </a:p>
        </p:txBody>
      </p:sp>
      <p:sp>
        <p:nvSpPr>
          <p:cNvPr id="18" name="Rounded Rectangle 17"/>
          <p:cNvSpPr/>
          <p:nvPr/>
        </p:nvSpPr>
        <p:spPr>
          <a:xfrm>
            <a:off x="8823960" y="1463040"/>
            <a:ext cx="251460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0" y="1627632"/>
            <a:ext cx="2057400" cy="365760"/>
          </a:xfrm>
          <a:prstGeom prst="rect">
            <a:avLst/>
          </a:prstGeom>
          <a:noFill/>
        </p:spPr>
        <p:txBody>
          <a:bodyPr wrap="none">
            <a:spAutoFit/>
          </a:bodyPr>
          <a:lstStyle/>
          <a:p>
            <a:pPr>
              <a:defRPr sz="1700" b="1">
                <a:solidFill>
                  <a:srgbClr val="00E678"/>
                </a:solidFill>
              </a:defRPr>
            </a:pPr>
            <a:r>
              <a:t>Step 4: Assembling &amp; Web Studio</a:t>
            </a:r>
          </a:p>
        </p:txBody>
      </p:sp>
      <p:sp>
        <p:nvSpPr>
          <p:cNvPr id="20" name="TextBox 19"/>
          <p:cNvSpPr txBox="1"/>
          <p:nvPr/>
        </p:nvSpPr>
        <p:spPr>
          <a:xfrm>
            <a:off x="9052560" y="1965960"/>
            <a:ext cx="2057400" cy="274320"/>
          </a:xfrm>
          <a:prstGeom prst="rect">
            <a:avLst/>
          </a:prstGeom>
          <a:noFill/>
        </p:spPr>
        <p:txBody>
          <a:bodyPr wrap="none">
            <a:spAutoFit/>
          </a:bodyPr>
          <a:lstStyle/>
          <a:p>
            <a:pPr>
              <a:defRPr sz="1100">
                <a:solidFill>
                  <a:srgbClr val="AAAFBE"/>
                </a:solidFill>
              </a:defRPr>
            </a:pPr>
            <a:r>
              <a:t>Final Assembling &amp; Web Studio</a:t>
            </a:r>
          </a:p>
        </p:txBody>
      </p:sp>
      <p:sp>
        <p:nvSpPr>
          <p:cNvPr id="21" name="TextBox 20"/>
          <p:cNvSpPr txBox="1"/>
          <p:nvPr/>
        </p:nvSpPr>
        <p:spPr>
          <a:xfrm>
            <a:off x="9052560" y="2240280"/>
            <a:ext cx="2057400" cy="3931920"/>
          </a:xfrm>
          <a:prstGeom prst="rect">
            <a:avLst/>
          </a:prstGeom>
          <a:noFill/>
        </p:spPr>
        <p:txBody>
          <a:bodyPr wrap="square">
            <a:spAutoFit/>
          </a:bodyPr>
          <a:lstStyle/>
          <a:p>
            <a:pPr>
              <a:spcAft>
                <a:spcPts val="700"/>
              </a:spcAft>
              <a:defRPr sz="1300">
                <a:solidFill>
                  <a:srgbClr val="F5F5F8"/>
                </a:solidFill>
              </a:defRPr>
            </a:pPr>
            <a:r>
              <a:t>•  Built the web studio interface using HTML, CSS, and JavaScript to play the real sounds.</a:t>
            </a:r>
          </a:p>
          <a:p>
            <a:pPr>
              <a:spcAft>
                <a:spcPts val="700"/>
              </a:spcAft>
              <a:defRPr sz="1300">
                <a:solidFill>
                  <a:srgbClr val="F5F5F8"/>
                </a:solidFill>
              </a:defRPr>
            </a:pPr>
            <a:r>
              <a:t>•  Connected the same keys and songs from emu8086 to the real sound studio.</a:t>
            </a:r>
          </a:p>
          <a:p>
            <a:pPr>
              <a:spcAft>
                <a:spcPts val="700"/>
              </a:spcAft>
              <a:defRPr sz="1300">
                <a:solidFill>
                  <a:srgbClr val="F5F5F8"/>
                </a:solidFill>
              </a:defRPr>
            </a:pPr>
            <a:r>
              <a:t>•  Added moving animations: keys press down, guitar strings vibrate, and drum pads show shockwaves.</a:t>
            </a:r>
          </a:p>
          <a:p>
            <a:pPr>
              <a:spcAft>
                <a:spcPts val="700"/>
              </a:spcAft>
              <a:defRPr sz="1300">
                <a:solidFill>
                  <a:srgbClr val="F5F5F8"/>
                </a:solidFill>
              </a:defRPr>
            </a:pPr>
            <a:r>
              <a:t>•  Assembled all files together for final presentation.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none">
            <a:spAutoFit/>
          </a:bodyPr>
          <a:lstStyle/>
          <a:p>
            <a:pPr>
              <a:defRPr sz="1100" b="1">
                <a:solidFill>
                  <a:srgbClr val="FFB914"/>
                </a:solidFill>
              </a:defRPr>
            </a:pPr>
            <a:r>
              <a:t>MICROPROCESSOR PROJECT • GROUP - 9</a:t>
            </a:r>
          </a:p>
        </p:txBody>
      </p:sp>
      <p:sp>
        <p:nvSpPr>
          <p:cNvPr id="4" name="TextBox 3"/>
          <p:cNvSpPr txBox="1"/>
          <p:nvPr/>
        </p:nvSpPr>
        <p:spPr>
          <a:xfrm>
            <a:off x="731520" y="640080"/>
            <a:ext cx="10515600" cy="594360"/>
          </a:xfrm>
          <a:prstGeom prst="rect">
            <a:avLst/>
          </a:prstGeom>
          <a:noFill/>
        </p:spPr>
        <p:txBody>
          <a:bodyPr wrap="none">
            <a:spAutoFit/>
          </a:bodyPr>
          <a:lstStyle/>
          <a:p>
            <a:pPr>
              <a:defRPr sz="2500" b="1">
                <a:solidFill>
                  <a:srgbClr val="F5F5F8"/>
                </a:solidFill>
              </a:defRPr>
            </a:pPr>
            <a:r>
              <a:t>System Architecture — 3-Tier Layered Design</a:t>
            </a:r>
          </a:p>
        </p:txBody>
      </p:sp>
      <p:sp>
        <p:nvSpPr>
          <p:cNvPr id="5" name="Rectangle 4"/>
          <p:cNvSpPr/>
          <p:nvPr/>
        </p:nvSpPr>
        <p:spPr>
          <a:xfrm>
            <a:off x="731520" y="1280160"/>
            <a:ext cx="10728655" cy="27432"/>
          </a:xfrm>
          <a:prstGeom prst="rect">
            <a:avLst/>
          </a:prstGeom>
          <a:solidFill>
            <a:srgbClr val="EB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38328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27632"/>
            <a:ext cx="2926080" cy="365760"/>
          </a:xfrm>
          <a:prstGeom prst="rect">
            <a:avLst/>
          </a:prstGeom>
          <a:noFill/>
        </p:spPr>
        <p:txBody>
          <a:bodyPr wrap="none">
            <a:spAutoFit/>
          </a:bodyPr>
          <a:lstStyle/>
          <a:p>
            <a:pPr>
              <a:defRPr sz="1700" b="1">
                <a:solidFill>
                  <a:srgbClr val="00D7FF"/>
                </a:solidFill>
              </a:defRPr>
            </a:pPr>
            <a:r>
              <a:t>1. Input &amp; Controls Layer</a:t>
            </a:r>
          </a:p>
        </p:txBody>
      </p:sp>
      <p:sp>
        <p:nvSpPr>
          <p:cNvPr id="8" name="TextBox 7"/>
          <p:cNvSpPr txBox="1"/>
          <p:nvPr/>
        </p:nvSpPr>
        <p:spPr>
          <a:xfrm>
            <a:off x="960120" y="1965960"/>
            <a:ext cx="2926080" cy="274320"/>
          </a:xfrm>
          <a:prstGeom prst="rect">
            <a:avLst/>
          </a:prstGeom>
          <a:noFill/>
        </p:spPr>
        <p:txBody>
          <a:bodyPr wrap="none">
            <a:spAutoFit/>
          </a:bodyPr>
          <a:lstStyle/>
          <a:p>
            <a:pPr>
              <a:defRPr sz="1100">
                <a:solidFill>
                  <a:srgbClr val="AAAFBE"/>
                </a:solidFill>
              </a:defRPr>
            </a:pPr>
            <a:r>
              <a:t>User Actions &amp; Keyboard Detection</a:t>
            </a:r>
          </a:p>
        </p:txBody>
      </p:sp>
      <p:sp>
        <p:nvSpPr>
          <p:cNvPr id="9" name="TextBox 8"/>
          <p:cNvSpPr txBox="1"/>
          <p:nvPr/>
        </p:nvSpPr>
        <p:spPr>
          <a:xfrm>
            <a:off x="960120" y="2240280"/>
            <a:ext cx="2926080" cy="3931920"/>
          </a:xfrm>
          <a:prstGeom prst="rect">
            <a:avLst/>
          </a:prstGeom>
          <a:noFill/>
        </p:spPr>
        <p:txBody>
          <a:bodyPr wrap="square">
            <a:spAutoFit/>
          </a:bodyPr>
          <a:lstStyle/>
          <a:p>
            <a:pPr>
              <a:spcAft>
                <a:spcPts val="700"/>
              </a:spcAft>
              <a:defRPr sz="1300">
                <a:solidFill>
                  <a:srgbClr val="F5F5F8"/>
                </a:solidFill>
              </a:defRPr>
            </a:pPr>
            <a:r>
              <a:t>•  Keyboard Inputs: Q..I (Piano), Q..Y &amp; [S] (Guitar), Q, W, E, R, T (Drums), 1..4 (Menu).</a:t>
            </a:r>
          </a:p>
          <a:p>
            <a:pPr>
              <a:spcAft>
                <a:spcPts val="700"/>
              </a:spcAft>
              <a:defRPr sz="1300">
                <a:solidFill>
                  <a:srgbClr val="F5F5F8"/>
                </a:solidFill>
              </a:defRPr>
            </a:pPr>
            <a:r>
              <a:t>•  BIOS Keyboard Interrupt (INT 16h): Reads key scan codes non-destructively in emu8086.</a:t>
            </a:r>
          </a:p>
          <a:p>
            <a:pPr>
              <a:spcAft>
                <a:spcPts val="700"/>
              </a:spcAft>
              <a:defRPr sz="1300">
                <a:solidFill>
                  <a:srgbClr val="F5F5F8"/>
                </a:solidFill>
              </a:defRPr>
            </a:pPr>
            <a:r>
              <a:t>•  Instant Stop [ESC]: Non-blocking keyboard polling halts playback and silences audio immediately.</a:t>
            </a:r>
          </a:p>
          <a:p>
            <a:pPr>
              <a:spcAft>
                <a:spcPts val="700"/>
              </a:spcAft>
              <a:defRPr sz="1300">
                <a:solidFill>
                  <a:srgbClr val="F5F5F8"/>
                </a:solidFill>
              </a:defRPr>
            </a:pPr>
            <a:r>
              <a:t>•  Web Event Listeners: JavaScript keydown and mouse click events mirror the exact same controls.</a:t>
            </a:r>
          </a:p>
        </p:txBody>
      </p:sp>
      <p:sp>
        <p:nvSpPr>
          <p:cNvPr id="10" name="Right Arrow 9"/>
          <p:cNvSpPr/>
          <p:nvPr/>
        </p:nvSpPr>
        <p:spPr>
          <a:xfrm>
            <a:off x="4133087" y="3566160"/>
            <a:ext cx="219456" cy="329184"/>
          </a:xfrm>
          <a:prstGeom prst="rightArrow">
            <a:avLst/>
          </a:prstGeom>
          <a:solidFill>
            <a:srgbClr val="FFB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9120" y="1463040"/>
            <a:ext cx="338328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627632"/>
            <a:ext cx="2926080" cy="365760"/>
          </a:xfrm>
          <a:prstGeom prst="rect">
            <a:avLst/>
          </a:prstGeom>
          <a:noFill/>
        </p:spPr>
        <p:txBody>
          <a:bodyPr wrap="none">
            <a:spAutoFit/>
          </a:bodyPr>
          <a:lstStyle/>
          <a:p>
            <a:pPr>
              <a:defRPr sz="1700" b="1">
                <a:solidFill>
                  <a:srgbClr val="EB3C3C"/>
                </a:solidFill>
              </a:defRPr>
            </a:pPr>
            <a:r>
              <a:t>2. emu8086 Assembly Engine</a:t>
            </a:r>
          </a:p>
        </p:txBody>
      </p:sp>
      <p:sp>
        <p:nvSpPr>
          <p:cNvPr id="13" name="TextBox 12"/>
          <p:cNvSpPr txBox="1"/>
          <p:nvPr/>
        </p:nvSpPr>
        <p:spPr>
          <a:xfrm>
            <a:off x="4617720" y="1965960"/>
            <a:ext cx="2926080" cy="274320"/>
          </a:xfrm>
          <a:prstGeom prst="rect">
            <a:avLst/>
          </a:prstGeom>
          <a:noFill/>
        </p:spPr>
        <p:txBody>
          <a:bodyPr wrap="none">
            <a:spAutoFit/>
          </a:bodyPr>
          <a:lstStyle/>
          <a:p>
            <a:pPr>
              <a:defRPr sz="1100">
                <a:solidFill>
                  <a:srgbClr val="AAAFBE"/>
                </a:solidFill>
              </a:defRPr>
            </a:pPr>
            <a:r>
              <a:t>Core 16-Bit Processing (kernel.asm)</a:t>
            </a:r>
          </a:p>
        </p:txBody>
      </p:sp>
      <p:sp>
        <p:nvSpPr>
          <p:cNvPr id="14" name="TextBox 13"/>
          <p:cNvSpPr txBox="1"/>
          <p:nvPr/>
        </p:nvSpPr>
        <p:spPr>
          <a:xfrm>
            <a:off x="4617720" y="2240280"/>
            <a:ext cx="2926080" cy="3931920"/>
          </a:xfrm>
          <a:prstGeom prst="rect">
            <a:avLst/>
          </a:prstGeom>
          <a:noFill/>
        </p:spPr>
        <p:txBody>
          <a:bodyPr wrap="square">
            <a:spAutoFit/>
          </a:bodyPr>
          <a:lstStyle/>
          <a:p>
            <a:pPr>
              <a:spcAft>
                <a:spcPts val="700"/>
              </a:spcAft>
              <a:defRPr sz="1300">
                <a:solidFill>
                  <a:srgbClr val="F5F5F8"/>
                </a:solidFill>
              </a:defRPr>
            </a:pPr>
            <a:r>
              <a:t>•  Kernel Controller (kernel.asm): Coordinates module switching, memory segments, and screen views.</a:t>
            </a:r>
          </a:p>
          <a:p>
            <a:pPr>
              <a:spcAft>
                <a:spcPts val="700"/>
              </a:spcAft>
              <a:defRPr sz="1300">
                <a:solidFill>
                  <a:srgbClr val="F5F5F8"/>
                </a:solidFill>
              </a:defRPr>
            </a:pPr>
            <a:r>
              <a:t>•  Piano Module (piano.asm): Note frequency math, octave register shifting, and sustain pedal logic.</a:t>
            </a:r>
          </a:p>
          <a:p>
            <a:pPr>
              <a:spcAft>
                <a:spcPts val="700"/>
              </a:spcAft>
              <a:defRPr sz="1300">
                <a:solidFill>
                  <a:srgbClr val="F5F5F8"/>
                </a:solidFill>
              </a:defRPr>
            </a:pPr>
            <a:r>
              <a:t>•  Guitar Module (guitar.asm): Plectrum chirp transients, singing vibrato, and chord sweeps.</a:t>
            </a:r>
          </a:p>
          <a:p>
            <a:pPr>
              <a:spcAft>
                <a:spcPts val="700"/>
              </a:spcAft>
              <a:defRPr sz="1300">
                <a:solidFill>
                  <a:srgbClr val="F5F5F8"/>
                </a:solidFill>
              </a:defRPr>
            </a:pPr>
            <a:r>
              <a:t>•  Drums Module (drums.asm): 8086 random white noise generator and kick drum frequency drops.</a:t>
            </a:r>
          </a:p>
          <a:p>
            <a:pPr>
              <a:spcAft>
                <a:spcPts val="700"/>
              </a:spcAft>
              <a:defRPr sz="1300">
                <a:solidFill>
                  <a:srgbClr val="F5F5F8"/>
                </a:solidFill>
              </a:defRPr>
            </a:pPr>
            <a:r>
              <a:t>•  Songs Sequencer (songs.asm): Word-encoded note tables and calibrated BIOS timer delay loops.</a:t>
            </a:r>
          </a:p>
        </p:txBody>
      </p:sp>
      <p:sp>
        <p:nvSpPr>
          <p:cNvPr id="15" name="Right Arrow 14"/>
          <p:cNvSpPr/>
          <p:nvPr/>
        </p:nvSpPr>
        <p:spPr>
          <a:xfrm>
            <a:off x="7790688" y="3566160"/>
            <a:ext cx="219456" cy="329184"/>
          </a:xfrm>
          <a:prstGeom prst="rightArrow">
            <a:avLst/>
          </a:prstGeom>
          <a:solidFill>
            <a:srgbClr val="FFB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0" y="1463040"/>
            <a:ext cx="338328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1627632"/>
            <a:ext cx="2926080" cy="365760"/>
          </a:xfrm>
          <a:prstGeom prst="rect">
            <a:avLst/>
          </a:prstGeom>
          <a:noFill/>
        </p:spPr>
        <p:txBody>
          <a:bodyPr wrap="none">
            <a:spAutoFit/>
          </a:bodyPr>
          <a:lstStyle/>
          <a:p>
            <a:pPr>
              <a:defRPr sz="1700" b="1">
                <a:solidFill>
                  <a:srgbClr val="FFB914"/>
                </a:solidFill>
              </a:defRPr>
            </a:pPr>
            <a:r>
              <a:t>3. Dual Output Audio Engine</a:t>
            </a:r>
          </a:p>
        </p:txBody>
      </p:sp>
      <p:sp>
        <p:nvSpPr>
          <p:cNvPr id="18" name="TextBox 17"/>
          <p:cNvSpPr txBox="1"/>
          <p:nvPr/>
        </p:nvSpPr>
        <p:spPr>
          <a:xfrm>
            <a:off x="8275320" y="1965960"/>
            <a:ext cx="2926080" cy="274320"/>
          </a:xfrm>
          <a:prstGeom prst="rect">
            <a:avLst/>
          </a:prstGeom>
          <a:noFill/>
        </p:spPr>
        <p:txBody>
          <a:bodyPr wrap="none">
            <a:spAutoFit/>
          </a:bodyPr>
          <a:lstStyle/>
          <a:p>
            <a:pPr>
              <a:defRPr sz="1100">
                <a:solidFill>
                  <a:srgbClr val="AAAFBE"/>
                </a:solidFill>
              </a:defRPr>
            </a:pPr>
            <a:r>
              <a:t>Hardware Speaker &amp; Studio Sound</a:t>
            </a:r>
          </a:p>
        </p:txBody>
      </p:sp>
      <p:sp>
        <p:nvSpPr>
          <p:cNvPr id="19" name="TextBox 18"/>
          <p:cNvSpPr txBox="1"/>
          <p:nvPr/>
        </p:nvSpPr>
        <p:spPr>
          <a:xfrm>
            <a:off x="8275320" y="2240280"/>
            <a:ext cx="2926080" cy="3931920"/>
          </a:xfrm>
          <a:prstGeom prst="rect">
            <a:avLst/>
          </a:prstGeom>
          <a:noFill/>
        </p:spPr>
        <p:txBody>
          <a:bodyPr wrap="square">
            <a:spAutoFit/>
          </a:bodyPr>
          <a:lstStyle/>
          <a:p>
            <a:pPr>
              <a:spcAft>
                <a:spcPts val="700"/>
              </a:spcAft>
              <a:defRPr sz="1300">
                <a:solidFill>
                  <a:srgbClr val="F5F5F8"/>
                </a:solidFill>
              </a:defRPr>
            </a:pPr>
            <a:r>
              <a:t>•  Output A (emu8086 PC Speaker): Direct port output produces 1-bit timer sound through computer speakers.</a:t>
            </a:r>
          </a:p>
          <a:p>
            <a:pPr>
              <a:spcAft>
                <a:spcPts val="700"/>
              </a:spcAft>
              <a:defRPr sz="1300">
                <a:solidFill>
                  <a:srgbClr val="F5F5F8"/>
                </a:solidFill>
              </a:defRPr>
            </a:pPr>
            <a:r>
              <a:t>•  Output B (Web Audio Studio): Maps identical note data to 28 real studio recordings (Steinway, Martin, Ludwig).</a:t>
            </a:r>
          </a:p>
          <a:p>
            <a:pPr>
              <a:spcAft>
                <a:spcPts val="700"/>
              </a:spcAft>
              <a:defRPr sz="1300">
                <a:solidFill>
                  <a:srgbClr val="F5F5F8"/>
                </a:solidFill>
              </a:defRPr>
            </a:pPr>
            <a:r>
              <a:t>•  Zero-Latency Buffering: Pre-decoded AudioBuffers allow instant response on key press.</a:t>
            </a:r>
          </a:p>
          <a:p>
            <a:pPr>
              <a:spcAft>
                <a:spcPts val="700"/>
              </a:spcAft>
              <a:defRPr sz="1300">
                <a:solidFill>
                  <a:srgbClr val="F5F5F8"/>
                </a:solidFill>
              </a:defRPr>
            </a:pPr>
            <a:r>
              <a:t>•  Dual Visualizers: 8-channel text equalizer in emu8086 + 60 FPS dynamic Canvas spectrum analyzer in Web Studio.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none">
            <a:spAutoFit/>
          </a:bodyPr>
          <a:lstStyle/>
          <a:p>
            <a:pPr>
              <a:defRPr sz="1100" b="1">
                <a:solidFill>
                  <a:srgbClr val="FFB914"/>
                </a:solidFill>
              </a:defRPr>
            </a:pPr>
            <a:r>
              <a:t>MICROPROCESSOR PROJECT • GROUP - 9</a:t>
            </a:r>
          </a:p>
        </p:txBody>
      </p:sp>
      <p:sp>
        <p:nvSpPr>
          <p:cNvPr id="4" name="TextBox 3"/>
          <p:cNvSpPr txBox="1"/>
          <p:nvPr/>
        </p:nvSpPr>
        <p:spPr>
          <a:xfrm>
            <a:off x="731520" y="640080"/>
            <a:ext cx="10515600" cy="594360"/>
          </a:xfrm>
          <a:prstGeom prst="rect">
            <a:avLst/>
          </a:prstGeom>
          <a:noFill/>
        </p:spPr>
        <p:txBody>
          <a:bodyPr wrap="none">
            <a:spAutoFit/>
          </a:bodyPr>
          <a:lstStyle/>
          <a:p>
            <a:pPr>
              <a:defRPr sz="2500" b="1">
                <a:solidFill>
                  <a:srgbClr val="F5F5F8"/>
                </a:solidFill>
              </a:defRPr>
            </a:pPr>
            <a:r>
              <a:t>Module Work Division — Core Responsibilities</a:t>
            </a:r>
          </a:p>
        </p:txBody>
      </p:sp>
      <p:sp>
        <p:nvSpPr>
          <p:cNvPr id="5" name="Rectangle 4"/>
          <p:cNvSpPr/>
          <p:nvPr/>
        </p:nvSpPr>
        <p:spPr>
          <a:xfrm>
            <a:off x="731520" y="1280160"/>
            <a:ext cx="10728655" cy="27432"/>
          </a:xfrm>
          <a:prstGeom prst="rect">
            <a:avLst/>
          </a:prstGeom>
          <a:solidFill>
            <a:srgbClr val="EB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201168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27632"/>
            <a:ext cx="1554480" cy="365760"/>
          </a:xfrm>
          <a:prstGeom prst="rect">
            <a:avLst/>
          </a:prstGeom>
          <a:noFill/>
        </p:spPr>
        <p:txBody>
          <a:bodyPr wrap="none">
            <a:spAutoFit/>
          </a:bodyPr>
          <a:lstStyle/>
          <a:p>
            <a:pPr>
              <a:defRPr sz="1700" b="1">
                <a:solidFill>
                  <a:srgbClr val="EB3C3C"/>
                </a:solidFill>
              </a:defRPr>
            </a:pPr>
            <a:r>
              <a:t>1. CONCERT PIANO</a:t>
            </a:r>
          </a:p>
        </p:txBody>
      </p:sp>
      <p:sp>
        <p:nvSpPr>
          <p:cNvPr id="8" name="TextBox 7"/>
          <p:cNvSpPr txBox="1"/>
          <p:nvPr/>
        </p:nvSpPr>
        <p:spPr>
          <a:xfrm>
            <a:off x="960120" y="1965960"/>
            <a:ext cx="1554480" cy="274320"/>
          </a:xfrm>
          <a:prstGeom prst="rect">
            <a:avLst/>
          </a:prstGeom>
          <a:noFill/>
        </p:spPr>
        <p:txBody>
          <a:bodyPr wrap="none">
            <a:spAutoFit/>
          </a:bodyPr>
          <a:lstStyle/>
          <a:p>
            <a:pPr>
              <a:defRPr sz="1100">
                <a:solidFill>
                  <a:srgbClr val="AAAFBE"/>
                </a:solidFill>
              </a:defRPr>
            </a:pPr>
            <a:r>
              <a:t>Piano &amp; Project Lead</a:t>
            </a:r>
          </a:p>
        </p:txBody>
      </p:sp>
      <p:sp>
        <p:nvSpPr>
          <p:cNvPr id="9" name="TextBox 8"/>
          <p:cNvSpPr txBox="1"/>
          <p:nvPr/>
        </p:nvSpPr>
        <p:spPr>
          <a:xfrm>
            <a:off x="960120" y="2240280"/>
            <a:ext cx="1554480" cy="3931920"/>
          </a:xfrm>
          <a:prstGeom prst="rect">
            <a:avLst/>
          </a:prstGeom>
          <a:noFill/>
        </p:spPr>
        <p:txBody>
          <a:bodyPr wrap="square">
            <a:spAutoFit/>
          </a:bodyPr>
          <a:lstStyle/>
          <a:p>
            <a:pPr>
              <a:spcAft>
                <a:spcPts val="700"/>
              </a:spcAft>
              <a:defRPr sz="1300">
                <a:solidFill>
                  <a:srgbClr val="F5F5F8"/>
                </a:solidFill>
              </a:defRPr>
            </a:pPr>
            <a:r>
              <a:t>•  Project Conception &amp; Architecture Research.</a:t>
            </a:r>
          </a:p>
          <a:p>
            <a:pPr>
              <a:spcAft>
                <a:spcPts val="700"/>
              </a:spcAft>
              <a:defRPr sz="1300">
                <a:solidFill>
                  <a:srgbClr val="F5F5F8"/>
                </a:solidFill>
              </a:defRPr>
            </a:pPr>
            <a:r>
              <a:t>•  Researched how emu8086 plays sound through PC speaker.</a:t>
            </a:r>
          </a:p>
          <a:p>
            <a:pPr>
              <a:spcAft>
                <a:spcPts val="700"/>
              </a:spcAft>
              <a:defRPr sz="1300">
                <a:solidFill>
                  <a:srgbClr val="F5F5F8"/>
                </a:solidFill>
              </a:defRPr>
            </a:pPr>
            <a:r>
              <a:t>•  Built the Piano module in emu8086 (3D keys, sustain pedal).</a:t>
            </a:r>
          </a:p>
          <a:p>
            <a:pPr>
              <a:spcAft>
                <a:spcPts val="700"/>
              </a:spcAft>
              <a:defRPr sz="1300">
                <a:solidFill>
                  <a:srgbClr val="F5F5F8"/>
                </a:solidFill>
              </a:defRPr>
            </a:pPr>
            <a:r>
              <a:t>•  Integrated real Steinway piano sound to Web Studio.</a:t>
            </a:r>
          </a:p>
          <a:p>
            <a:pPr>
              <a:spcAft>
                <a:spcPts val="700"/>
              </a:spcAft>
              <a:defRPr sz="1300">
                <a:solidFill>
                  <a:srgbClr val="F5F5F8"/>
                </a:solidFill>
              </a:defRPr>
            </a:pPr>
            <a:r>
              <a:t>•  Assembled the full project and created the final build files.</a:t>
            </a:r>
          </a:p>
        </p:txBody>
      </p:sp>
      <p:sp>
        <p:nvSpPr>
          <p:cNvPr id="10" name="Rounded Rectangle 9"/>
          <p:cNvSpPr/>
          <p:nvPr/>
        </p:nvSpPr>
        <p:spPr>
          <a:xfrm>
            <a:off x="2907792" y="1463040"/>
            <a:ext cx="201168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36392" y="1627632"/>
            <a:ext cx="1554480" cy="365760"/>
          </a:xfrm>
          <a:prstGeom prst="rect">
            <a:avLst/>
          </a:prstGeom>
          <a:noFill/>
        </p:spPr>
        <p:txBody>
          <a:bodyPr wrap="none">
            <a:spAutoFit/>
          </a:bodyPr>
          <a:lstStyle/>
          <a:p>
            <a:pPr>
              <a:defRPr sz="1700" b="1">
                <a:solidFill>
                  <a:srgbClr val="FFB914"/>
                </a:solidFill>
              </a:defRPr>
            </a:pPr>
            <a:r>
              <a:t>2. ACOUSTIC GUITAR</a:t>
            </a:r>
          </a:p>
        </p:txBody>
      </p:sp>
      <p:sp>
        <p:nvSpPr>
          <p:cNvPr id="12" name="TextBox 11"/>
          <p:cNvSpPr txBox="1"/>
          <p:nvPr/>
        </p:nvSpPr>
        <p:spPr>
          <a:xfrm>
            <a:off x="3136392" y="1965960"/>
            <a:ext cx="1554480" cy="274320"/>
          </a:xfrm>
          <a:prstGeom prst="rect">
            <a:avLst/>
          </a:prstGeom>
          <a:noFill/>
        </p:spPr>
        <p:txBody>
          <a:bodyPr wrap="none">
            <a:spAutoFit/>
          </a:bodyPr>
          <a:lstStyle/>
          <a:p>
            <a:pPr>
              <a:defRPr sz="1100">
                <a:solidFill>
                  <a:srgbClr val="AAAFBE"/>
                </a:solidFill>
              </a:defRPr>
            </a:pPr>
            <a:r>
              <a:t>Guitar (emu8086 &amp; Web)</a:t>
            </a:r>
          </a:p>
        </p:txBody>
      </p:sp>
      <p:sp>
        <p:nvSpPr>
          <p:cNvPr id="13" name="TextBox 12"/>
          <p:cNvSpPr txBox="1"/>
          <p:nvPr/>
        </p:nvSpPr>
        <p:spPr>
          <a:xfrm>
            <a:off x="3136392" y="2240280"/>
            <a:ext cx="1554480" cy="3931920"/>
          </a:xfrm>
          <a:prstGeom prst="rect">
            <a:avLst/>
          </a:prstGeom>
          <a:noFill/>
        </p:spPr>
        <p:txBody>
          <a:bodyPr wrap="square">
            <a:spAutoFit/>
          </a:bodyPr>
          <a:lstStyle/>
          <a:p>
            <a:pPr>
              <a:spcAft>
                <a:spcPts val="700"/>
              </a:spcAft>
              <a:defRPr sz="1300">
                <a:solidFill>
                  <a:srgbClr val="F5F5F8"/>
                </a:solidFill>
              </a:defRPr>
            </a:pPr>
            <a:r>
              <a:t>•  Acoustic Guitar specialist module.</a:t>
            </a:r>
          </a:p>
          <a:p>
            <a:pPr>
              <a:spcAft>
                <a:spcPts val="700"/>
              </a:spcAft>
              <a:defRPr sz="1300">
                <a:solidFill>
                  <a:srgbClr val="F5F5F8"/>
                </a:solidFill>
              </a:defRPr>
            </a:pPr>
            <a:r>
              <a:t>•  Built Guitar module in emu8086 (guitar.asm).</a:t>
            </a:r>
          </a:p>
          <a:p>
            <a:pPr>
              <a:spcAft>
                <a:spcPts val="700"/>
              </a:spcAft>
              <a:defRPr sz="1300">
                <a:solidFill>
                  <a:srgbClr val="F5F5F8"/>
                </a:solidFill>
              </a:defRPr>
            </a:pPr>
            <a:r>
              <a:t>•  Coded 6 strings from Low E to High E.</a:t>
            </a:r>
          </a:p>
          <a:p>
            <a:pPr>
              <a:spcAft>
                <a:spcPts val="700"/>
              </a:spcAft>
              <a:defRPr sz="1300">
                <a:solidFill>
                  <a:srgbClr val="F5F5F8"/>
                </a:solidFill>
              </a:defRPr>
            </a:pPr>
            <a:r>
              <a:t>•  Added guitar vibrato and chord strumming on key [S].</a:t>
            </a:r>
          </a:p>
          <a:p>
            <a:pPr>
              <a:spcAft>
                <a:spcPts val="700"/>
              </a:spcAft>
              <a:defRPr sz="1300">
                <a:solidFill>
                  <a:srgbClr val="F5F5F8"/>
                </a:solidFill>
              </a:defRPr>
            </a:pPr>
            <a:r>
              <a:t>•  Created the guitar fretboard and Martin acoustic plucks in Web Studio.</a:t>
            </a:r>
          </a:p>
        </p:txBody>
      </p:sp>
      <p:sp>
        <p:nvSpPr>
          <p:cNvPr id="14" name="Rounded Rectangle 13"/>
          <p:cNvSpPr/>
          <p:nvPr/>
        </p:nvSpPr>
        <p:spPr>
          <a:xfrm>
            <a:off x="5084064" y="1463040"/>
            <a:ext cx="201168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12664" y="1627632"/>
            <a:ext cx="1554480" cy="365760"/>
          </a:xfrm>
          <a:prstGeom prst="rect">
            <a:avLst/>
          </a:prstGeom>
          <a:noFill/>
        </p:spPr>
        <p:txBody>
          <a:bodyPr wrap="none">
            <a:spAutoFit/>
          </a:bodyPr>
          <a:lstStyle/>
          <a:p>
            <a:pPr>
              <a:defRPr sz="1700" b="1">
                <a:solidFill>
                  <a:srgbClr val="EB3C3C"/>
                </a:solidFill>
              </a:defRPr>
            </a:pPr>
            <a:r>
              <a:t>3. STUDIO DRUMS</a:t>
            </a:r>
          </a:p>
        </p:txBody>
      </p:sp>
      <p:sp>
        <p:nvSpPr>
          <p:cNvPr id="16" name="TextBox 15"/>
          <p:cNvSpPr txBox="1"/>
          <p:nvPr/>
        </p:nvSpPr>
        <p:spPr>
          <a:xfrm>
            <a:off x="5312664" y="1965960"/>
            <a:ext cx="1554480" cy="274320"/>
          </a:xfrm>
          <a:prstGeom prst="rect">
            <a:avLst/>
          </a:prstGeom>
          <a:noFill/>
        </p:spPr>
        <p:txBody>
          <a:bodyPr wrap="none">
            <a:spAutoFit/>
          </a:bodyPr>
          <a:lstStyle/>
          <a:p>
            <a:pPr>
              <a:defRPr sz="1100">
                <a:solidFill>
                  <a:srgbClr val="AAAFBE"/>
                </a:solidFill>
              </a:defRPr>
            </a:pPr>
            <a:r>
              <a:t>Drums (emu8086 &amp; Web)</a:t>
            </a:r>
          </a:p>
        </p:txBody>
      </p:sp>
      <p:sp>
        <p:nvSpPr>
          <p:cNvPr id="17" name="TextBox 16"/>
          <p:cNvSpPr txBox="1"/>
          <p:nvPr/>
        </p:nvSpPr>
        <p:spPr>
          <a:xfrm>
            <a:off x="5312664" y="2240280"/>
            <a:ext cx="1554480" cy="3931920"/>
          </a:xfrm>
          <a:prstGeom prst="rect">
            <a:avLst/>
          </a:prstGeom>
          <a:noFill/>
        </p:spPr>
        <p:txBody>
          <a:bodyPr wrap="square">
            <a:spAutoFit/>
          </a:bodyPr>
          <a:lstStyle/>
          <a:p>
            <a:pPr>
              <a:spcAft>
                <a:spcPts val="700"/>
              </a:spcAft>
              <a:defRPr sz="1300">
                <a:solidFill>
                  <a:srgbClr val="F5F5F8"/>
                </a:solidFill>
              </a:defRPr>
            </a:pPr>
            <a:r>
              <a:t>•  Drums &amp; Percussion specialist module.</a:t>
            </a:r>
          </a:p>
          <a:p>
            <a:pPr>
              <a:spcAft>
                <a:spcPts val="700"/>
              </a:spcAft>
              <a:defRPr sz="1300">
                <a:solidFill>
                  <a:srgbClr val="F5F5F8"/>
                </a:solidFill>
              </a:defRPr>
            </a:pPr>
            <a:r>
              <a:t>•  Built Drum Kit in emu8086 (drums.asm).</a:t>
            </a:r>
          </a:p>
          <a:p>
            <a:pPr>
              <a:spcAft>
                <a:spcPts val="700"/>
              </a:spcAft>
              <a:defRPr sz="1300">
                <a:solidFill>
                  <a:srgbClr val="F5F5F8"/>
                </a:solidFill>
              </a:defRPr>
            </a:pPr>
            <a:r>
              <a:t>•  Created white noise in assembly for snare and crash cymbals.</a:t>
            </a:r>
          </a:p>
          <a:p>
            <a:pPr>
              <a:spcAft>
                <a:spcPts val="700"/>
              </a:spcAft>
              <a:defRPr sz="1300">
                <a:solidFill>
                  <a:srgbClr val="F5F5F8"/>
                </a:solidFill>
              </a:defRPr>
            </a:pPr>
            <a:r>
              <a:t>•  Coded 5 drum sounds (Kick, Snare, Hi-Hat, Tom, Crash).</a:t>
            </a:r>
          </a:p>
          <a:p>
            <a:pPr>
              <a:spcAft>
                <a:spcPts val="700"/>
              </a:spcAft>
              <a:defRPr sz="1300">
                <a:solidFill>
                  <a:srgbClr val="F5F5F8"/>
                </a:solidFill>
              </a:defRPr>
            </a:pPr>
            <a:r>
              <a:t>•  Built the 3D drum kit stage with shockwave effects in Web Studio.</a:t>
            </a:r>
          </a:p>
        </p:txBody>
      </p:sp>
      <p:sp>
        <p:nvSpPr>
          <p:cNvPr id="18" name="Rounded Rectangle 17"/>
          <p:cNvSpPr/>
          <p:nvPr/>
        </p:nvSpPr>
        <p:spPr>
          <a:xfrm>
            <a:off x="7260336" y="1463040"/>
            <a:ext cx="201168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88936" y="1627632"/>
            <a:ext cx="1554480" cy="365760"/>
          </a:xfrm>
          <a:prstGeom prst="rect">
            <a:avLst/>
          </a:prstGeom>
          <a:noFill/>
        </p:spPr>
        <p:txBody>
          <a:bodyPr wrap="none">
            <a:spAutoFit/>
          </a:bodyPr>
          <a:lstStyle/>
          <a:p>
            <a:pPr>
              <a:defRPr sz="1700" b="1">
                <a:solidFill>
                  <a:srgbClr val="FFB914"/>
                </a:solidFill>
              </a:defRPr>
            </a:pPr>
            <a:r>
              <a:t>4. MUSIC REPERTOIRE</a:t>
            </a:r>
          </a:p>
        </p:txBody>
      </p:sp>
      <p:sp>
        <p:nvSpPr>
          <p:cNvPr id="20" name="TextBox 19"/>
          <p:cNvSpPr txBox="1"/>
          <p:nvPr/>
        </p:nvSpPr>
        <p:spPr>
          <a:xfrm>
            <a:off x="7488936" y="1965960"/>
            <a:ext cx="1554480" cy="274320"/>
          </a:xfrm>
          <a:prstGeom prst="rect">
            <a:avLst/>
          </a:prstGeom>
          <a:noFill/>
        </p:spPr>
        <p:txBody>
          <a:bodyPr wrap="none">
            <a:spAutoFit/>
          </a:bodyPr>
          <a:lstStyle/>
          <a:p>
            <a:pPr>
              <a:defRPr sz="1100">
                <a:solidFill>
                  <a:srgbClr val="AAAFBE"/>
                </a:solidFill>
              </a:defRPr>
            </a:pPr>
            <a:r>
              <a:t>Songs Data &amp; Timing</a:t>
            </a:r>
          </a:p>
        </p:txBody>
      </p:sp>
      <p:sp>
        <p:nvSpPr>
          <p:cNvPr id="21" name="TextBox 20"/>
          <p:cNvSpPr txBox="1"/>
          <p:nvPr/>
        </p:nvSpPr>
        <p:spPr>
          <a:xfrm>
            <a:off x="7488936" y="2240280"/>
            <a:ext cx="1554480" cy="3931920"/>
          </a:xfrm>
          <a:prstGeom prst="rect">
            <a:avLst/>
          </a:prstGeom>
          <a:noFill/>
        </p:spPr>
        <p:txBody>
          <a:bodyPr wrap="square">
            <a:spAutoFit/>
          </a:bodyPr>
          <a:lstStyle/>
          <a:p>
            <a:pPr>
              <a:spcAft>
                <a:spcPts val="700"/>
              </a:spcAft>
              <a:defRPr sz="1300">
                <a:solidFill>
                  <a:srgbClr val="F5F5F8"/>
                </a:solidFill>
              </a:defRPr>
            </a:pPr>
            <a:r>
              <a:t>•  Songs &amp; Music data specialist module.</a:t>
            </a:r>
          </a:p>
          <a:p>
            <a:pPr>
              <a:spcAft>
                <a:spcPts val="700"/>
              </a:spcAft>
              <a:defRPr sz="1300">
                <a:solidFill>
                  <a:srgbClr val="F5F5F8"/>
                </a:solidFill>
              </a:defRPr>
            </a:pPr>
            <a:r>
              <a:t>•  Built Song Repertoire in emu8086 (songs.asm).</a:t>
            </a:r>
          </a:p>
          <a:p>
            <a:pPr>
              <a:spcAft>
                <a:spcPts val="700"/>
              </a:spcAft>
              <a:defRPr sz="1300">
                <a:solidFill>
                  <a:srgbClr val="F5F5F8"/>
                </a:solidFill>
              </a:defRPr>
            </a:pPr>
            <a:r>
              <a:t>•  Stored musical notes and delay timing for 6 famous songs.</a:t>
            </a:r>
          </a:p>
          <a:p>
            <a:pPr>
              <a:spcAft>
                <a:spcPts val="700"/>
              </a:spcAft>
              <a:defRPr sz="1300">
                <a:solidFill>
                  <a:srgbClr val="F5F5F8"/>
                </a:solidFill>
              </a:defRPr>
            </a:pPr>
            <a:r>
              <a:t>•  Synchronized tempo so songs play at steady speed.</a:t>
            </a:r>
          </a:p>
          <a:p>
            <a:pPr>
              <a:spcAft>
                <a:spcPts val="700"/>
              </a:spcAft>
              <a:defRPr sz="1300">
                <a:solidFill>
                  <a:srgbClr val="F5F5F8"/>
                </a:solidFill>
              </a:defRPr>
            </a:pPr>
            <a:r>
              <a:t>•  Mapped the same song notes into Web Studio so they sound real.</a:t>
            </a:r>
          </a:p>
        </p:txBody>
      </p:sp>
      <p:sp>
        <p:nvSpPr>
          <p:cNvPr id="22" name="Rounded Rectangle 21"/>
          <p:cNvSpPr/>
          <p:nvPr/>
        </p:nvSpPr>
        <p:spPr>
          <a:xfrm>
            <a:off x="9436608" y="1463040"/>
            <a:ext cx="201168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65208" y="1627632"/>
            <a:ext cx="1554480" cy="365760"/>
          </a:xfrm>
          <a:prstGeom prst="rect">
            <a:avLst/>
          </a:prstGeom>
          <a:noFill/>
        </p:spPr>
        <p:txBody>
          <a:bodyPr wrap="none">
            <a:spAutoFit/>
          </a:bodyPr>
          <a:lstStyle/>
          <a:p>
            <a:pPr>
              <a:defRPr sz="1700" b="1">
                <a:solidFill>
                  <a:srgbClr val="00E678"/>
                </a:solidFill>
              </a:defRPr>
            </a:pPr>
            <a:r>
              <a:t>5. JUKEBOX PLAYER</a:t>
            </a:r>
          </a:p>
        </p:txBody>
      </p:sp>
      <p:sp>
        <p:nvSpPr>
          <p:cNvPr id="24" name="TextBox 23"/>
          <p:cNvSpPr txBox="1"/>
          <p:nvPr/>
        </p:nvSpPr>
        <p:spPr>
          <a:xfrm>
            <a:off x="9665208" y="1965960"/>
            <a:ext cx="1554480" cy="274320"/>
          </a:xfrm>
          <a:prstGeom prst="rect">
            <a:avLst/>
          </a:prstGeom>
          <a:noFill/>
        </p:spPr>
        <p:txBody>
          <a:bodyPr wrap="none">
            <a:spAutoFit/>
          </a:bodyPr>
          <a:lstStyle/>
          <a:p>
            <a:pPr>
              <a:defRPr sz="1100">
                <a:solidFill>
                  <a:srgbClr val="AAAFBE"/>
                </a:solidFill>
              </a:defRPr>
            </a:pPr>
            <a:r>
              <a:t>Jukebox Player &amp; Visualizer</a:t>
            </a:r>
          </a:p>
        </p:txBody>
      </p:sp>
      <p:sp>
        <p:nvSpPr>
          <p:cNvPr id="25" name="TextBox 24"/>
          <p:cNvSpPr txBox="1"/>
          <p:nvPr/>
        </p:nvSpPr>
        <p:spPr>
          <a:xfrm>
            <a:off x="9665208" y="2240280"/>
            <a:ext cx="1554480" cy="3931920"/>
          </a:xfrm>
          <a:prstGeom prst="rect">
            <a:avLst/>
          </a:prstGeom>
          <a:noFill/>
        </p:spPr>
        <p:txBody>
          <a:bodyPr wrap="square">
            <a:spAutoFit/>
          </a:bodyPr>
          <a:lstStyle/>
          <a:p>
            <a:pPr>
              <a:spcAft>
                <a:spcPts val="700"/>
              </a:spcAft>
              <a:defRPr sz="1300">
                <a:solidFill>
                  <a:srgbClr val="F5F5F8"/>
                </a:solidFill>
              </a:defRPr>
            </a:pPr>
            <a:r>
              <a:t>•  Song Player &amp; Visualizer specialist module.</a:t>
            </a:r>
          </a:p>
          <a:p>
            <a:pPr>
              <a:spcAft>
                <a:spcPts val="700"/>
              </a:spcAft>
              <a:defRPr sz="1300">
                <a:solidFill>
                  <a:srgbClr val="F5F5F8"/>
                </a:solidFill>
              </a:defRPr>
            </a:pPr>
            <a:r>
              <a:t>•  Built the Jukebox player that plays songs automatically in emu8086.</a:t>
            </a:r>
          </a:p>
          <a:p>
            <a:pPr>
              <a:spcAft>
                <a:spcPts val="700"/>
              </a:spcAft>
              <a:defRPr sz="1300">
                <a:solidFill>
                  <a:srgbClr val="F5F5F8"/>
                </a:solidFill>
              </a:defRPr>
            </a:pPr>
            <a:r>
              <a:t>•  Added 8 animated equalizer bars on screen.</a:t>
            </a:r>
          </a:p>
          <a:p>
            <a:pPr>
              <a:spcAft>
                <a:spcPts val="700"/>
              </a:spcAft>
              <a:defRPr sz="1300">
                <a:solidFill>
                  <a:srgbClr val="F5F5F8"/>
                </a:solidFill>
              </a:defRPr>
            </a:pPr>
            <a:r>
              <a:t>•  Added [ESC] button support to stop song anytime.</a:t>
            </a:r>
          </a:p>
          <a:p>
            <a:pPr>
              <a:spcAft>
                <a:spcPts val="700"/>
              </a:spcAft>
              <a:defRPr sz="1300">
                <a:solidFill>
                  <a:srgbClr val="F5F5F8"/>
                </a:solidFill>
              </a:defRPr>
            </a:pPr>
            <a:r>
              <a:t>•  Created the colorful live sound visualizer in Web Studio.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none">
            <a:spAutoFit/>
          </a:bodyPr>
          <a:lstStyle/>
          <a:p>
            <a:pPr>
              <a:defRPr sz="1100" b="1">
                <a:solidFill>
                  <a:srgbClr val="FFB914"/>
                </a:solidFill>
              </a:defRPr>
            </a:pPr>
            <a:r>
              <a:t>MICROPROCESSOR PROJECT • GROUP - 9</a:t>
            </a:r>
          </a:p>
        </p:txBody>
      </p:sp>
      <p:sp>
        <p:nvSpPr>
          <p:cNvPr id="4" name="TextBox 3"/>
          <p:cNvSpPr txBox="1"/>
          <p:nvPr/>
        </p:nvSpPr>
        <p:spPr>
          <a:xfrm>
            <a:off x="731520" y="640080"/>
            <a:ext cx="10515600" cy="594360"/>
          </a:xfrm>
          <a:prstGeom prst="rect">
            <a:avLst/>
          </a:prstGeom>
          <a:noFill/>
        </p:spPr>
        <p:txBody>
          <a:bodyPr wrap="none">
            <a:spAutoFit/>
          </a:bodyPr>
          <a:lstStyle/>
          <a:p>
            <a:pPr>
              <a:defRPr sz="2500" b="1">
                <a:solidFill>
                  <a:srgbClr val="F5F5F8"/>
                </a:solidFill>
              </a:defRPr>
            </a:pPr>
            <a:r>
              <a:t>Two Parts of Our Project</a:t>
            </a:r>
          </a:p>
        </p:txBody>
      </p:sp>
      <p:sp>
        <p:nvSpPr>
          <p:cNvPr id="5" name="Rectangle 4"/>
          <p:cNvSpPr/>
          <p:nvPr/>
        </p:nvSpPr>
        <p:spPr>
          <a:xfrm>
            <a:off x="731520" y="1280160"/>
            <a:ext cx="10728655" cy="27432"/>
          </a:xfrm>
          <a:prstGeom prst="rect">
            <a:avLst/>
          </a:prstGeom>
          <a:solidFill>
            <a:srgbClr val="EB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2064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27632"/>
            <a:ext cx="4663440" cy="365760"/>
          </a:xfrm>
          <a:prstGeom prst="rect">
            <a:avLst/>
          </a:prstGeom>
          <a:noFill/>
        </p:spPr>
        <p:txBody>
          <a:bodyPr wrap="none">
            <a:spAutoFit/>
          </a:bodyPr>
          <a:lstStyle/>
          <a:p>
            <a:pPr>
              <a:defRPr sz="1700" b="1">
                <a:solidFill>
                  <a:srgbClr val="EB3C3C"/>
                </a:solidFill>
              </a:defRPr>
            </a:pPr>
            <a:r>
              <a:t>Part 1: emu8086 Assembly Application</a:t>
            </a:r>
          </a:p>
        </p:txBody>
      </p:sp>
      <p:sp>
        <p:nvSpPr>
          <p:cNvPr id="8" name="TextBox 7"/>
          <p:cNvSpPr txBox="1"/>
          <p:nvPr/>
        </p:nvSpPr>
        <p:spPr>
          <a:xfrm>
            <a:off x="960120" y="1965960"/>
            <a:ext cx="4663440" cy="274320"/>
          </a:xfrm>
          <a:prstGeom prst="rect">
            <a:avLst/>
          </a:prstGeom>
          <a:noFill/>
        </p:spPr>
        <p:txBody>
          <a:bodyPr wrap="none">
            <a:spAutoFit/>
          </a:bodyPr>
          <a:lstStyle/>
          <a:p>
            <a:pPr>
              <a:defRPr sz="1100">
                <a:solidFill>
                  <a:srgbClr val="AAAFBE"/>
                </a:solidFill>
              </a:defRPr>
            </a:pPr>
            <a:r>
              <a:t>Core Assembly Engine (emu8086)</a:t>
            </a:r>
          </a:p>
        </p:txBody>
      </p:sp>
      <p:sp>
        <p:nvSpPr>
          <p:cNvPr id="9" name="TextBox 8"/>
          <p:cNvSpPr txBox="1"/>
          <p:nvPr/>
        </p:nvSpPr>
        <p:spPr>
          <a:xfrm>
            <a:off x="960120" y="2240280"/>
            <a:ext cx="4663440" cy="3931920"/>
          </a:xfrm>
          <a:prstGeom prst="rect">
            <a:avLst/>
          </a:prstGeom>
          <a:noFill/>
        </p:spPr>
        <p:txBody>
          <a:bodyPr wrap="square">
            <a:spAutoFit/>
          </a:bodyPr>
          <a:lstStyle/>
          <a:p>
            <a:pPr>
              <a:spcAft>
                <a:spcPts val="700"/>
              </a:spcAft>
              <a:defRPr sz="1300">
                <a:solidFill>
                  <a:srgbClr val="F5F5F8"/>
                </a:solidFill>
              </a:defRPr>
            </a:pPr>
            <a:r>
              <a:t>•  Our core project written completely in 8086 Assembly Language.</a:t>
            </a:r>
          </a:p>
          <a:p>
            <a:pPr>
              <a:spcAft>
                <a:spcPts val="700"/>
              </a:spcAft>
              <a:defRPr sz="1300">
                <a:solidFill>
                  <a:srgbClr val="F5F5F8"/>
                </a:solidFill>
              </a:defRPr>
            </a:pPr>
            <a:r>
              <a:t>•  Runs natively inside emu8086 emulator software.</a:t>
            </a:r>
          </a:p>
          <a:p>
            <a:pPr>
              <a:spcAft>
                <a:spcPts val="700"/>
              </a:spcAft>
              <a:defRPr sz="1300">
                <a:solidFill>
                  <a:srgbClr val="F5F5F8"/>
                </a:solidFill>
              </a:defRPr>
            </a:pPr>
            <a:r>
              <a:t>•  Controls the computer's PC speaker directly using assembly instructions (IN and OUT).</a:t>
            </a:r>
          </a:p>
          <a:p>
            <a:pPr>
              <a:spcAft>
                <a:spcPts val="700"/>
              </a:spcAft>
              <a:defRPr sz="1300">
                <a:solidFill>
                  <a:srgbClr val="F5F5F8"/>
                </a:solidFill>
              </a:defRPr>
            </a:pPr>
            <a:r>
              <a:t>•  Interactive menu in text mode: press 1 for Piano, 2 for Guitar, 3 for Drums, 4 for Songs.</a:t>
            </a:r>
          </a:p>
          <a:p>
            <a:pPr>
              <a:spcAft>
                <a:spcPts val="700"/>
              </a:spcAft>
              <a:defRPr sz="1300">
                <a:solidFill>
                  <a:srgbClr val="F5F5F8"/>
                </a:solidFill>
              </a:defRPr>
            </a:pPr>
            <a:r>
              <a:t>•  Demonstrates 8086 registers, loops, delay timers, and keyboard inputs.</a:t>
            </a:r>
          </a:p>
          <a:p>
            <a:pPr>
              <a:spcAft>
                <a:spcPts val="700"/>
              </a:spcAft>
              <a:defRPr sz="1300">
                <a:solidFill>
                  <a:srgbClr val="F5F5F8"/>
                </a:solidFill>
              </a:defRPr>
            </a:pPr>
            <a:r>
              <a:t>•  Runs directly with 1 click on 'Emulate' and 'Run' in emu8086.</a:t>
            </a:r>
          </a:p>
        </p:txBody>
      </p:sp>
      <p:sp>
        <p:nvSpPr>
          <p:cNvPr id="10" name="Rounded Rectangle 9"/>
          <p:cNvSpPr/>
          <p:nvPr/>
        </p:nvSpPr>
        <p:spPr>
          <a:xfrm>
            <a:off x="6309360" y="1463040"/>
            <a:ext cx="512064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627632"/>
            <a:ext cx="4663440" cy="365760"/>
          </a:xfrm>
          <a:prstGeom prst="rect">
            <a:avLst/>
          </a:prstGeom>
          <a:noFill/>
        </p:spPr>
        <p:txBody>
          <a:bodyPr wrap="none">
            <a:spAutoFit/>
          </a:bodyPr>
          <a:lstStyle/>
          <a:p>
            <a:pPr>
              <a:defRPr sz="1700" b="1">
                <a:solidFill>
                  <a:srgbClr val="FFB914"/>
                </a:solidFill>
              </a:defRPr>
            </a:pPr>
            <a:r>
              <a:t>Part 2: Real Sound Studio (HTML/CSS/JS)</a:t>
            </a:r>
          </a:p>
        </p:txBody>
      </p:sp>
      <p:sp>
        <p:nvSpPr>
          <p:cNvPr id="12" name="TextBox 11"/>
          <p:cNvSpPr txBox="1"/>
          <p:nvPr/>
        </p:nvSpPr>
        <p:spPr>
          <a:xfrm>
            <a:off x="6537960" y="1965960"/>
            <a:ext cx="4663440" cy="274320"/>
          </a:xfrm>
          <a:prstGeom prst="rect">
            <a:avLst/>
          </a:prstGeom>
          <a:noFill/>
        </p:spPr>
        <p:txBody>
          <a:bodyPr wrap="none">
            <a:spAutoFit/>
          </a:bodyPr>
          <a:lstStyle/>
          <a:p>
            <a:pPr>
              <a:defRPr sz="1100">
                <a:solidFill>
                  <a:srgbClr val="AAAFBE"/>
                </a:solidFill>
              </a:defRPr>
            </a:pPr>
            <a:r>
              <a:t>Modern Realistic Sound Extension</a:t>
            </a:r>
          </a:p>
        </p:txBody>
      </p:sp>
      <p:sp>
        <p:nvSpPr>
          <p:cNvPr id="13" name="TextBox 12"/>
          <p:cNvSpPr txBox="1"/>
          <p:nvPr/>
        </p:nvSpPr>
        <p:spPr>
          <a:xfrm>
            <a:off x="6537960" y="2240280"/>
            <a:ext cx="4663440" cy="3931920"/>
          </a:xfrm>
          <a:prstGeom prst="rect">
            <a:avLst/>
          </a:prstGeom>
          <a:noFill/>
        </p:spPr>
        <p:txBody>
          <a:bodyPr wrap="square">
            <a:spAutoFit/>
          </a:bodyPr>
          <a:lstStyle/>
          <a:p>
            <a:pPr>
              <a:spcAft>
                <a:spcPts val="700"/>
              </a:spcAft>
              <a:defRPr sz="1300">
                <a:solidFill>
                  <a:srgbClr val="F5F5F8"/>
                </a:solidFill>
              </a:defRPr>
            </a:pPr>
            <a:r>
              <a:t>•  Why we made it: The PC speaker in emu8086 can only make beeps, not real instruments.</a:t>
            </a:r>
          </a:p>
          <a:p>
            <a:pPr>
              <a:spcAft>
                <a:spcPts val="700"/>
              </a:spcAft>
              <a:defRPr sz="1300">
                <a:solidFill>
                  <a:srgbClr val="F5F5F8"/>
                </a:solidFill>
              </a:defRPr>
            </a:pPr>
            <a:r>
              <a:t>•  To show what our project sounds like in real life, we built a modern Studio companion.</a:t>
            </a:r>
          </a:p>
          <a:p>
            <a:pPr>
              <a:spcAft>
                <a:spcPts val="700"/>
              </a:spcAft>
              <a:defRPr sz="1300">
                <a:solidFill>
                  <a:srgbClr val="F5F5F8"/>
                </a:solidFill>
              </a:defRPr>
            </a:pPr>
            <a:r>
              <a:t>•  Built with HTML for layout, CSS for 3D design, and JavaScript for sound playback.</a:t>
            </a:r>
          </a:p>
          <a:p>
            <a:pPr>
              <a:spcAft>
                <a:spcPts val="700"/>
              </a:spcAft>
              <a:defRPr sz="1300">
                <a:solidFill>
                  <a:srgbClr val="F5F5F8"/>
                </a:solidFill>
              </a:defRPr>
            </a:pPr>
            <a:r>
              <a:t>•  Uses 28 real recorded instrument sounds (Steinway piano, Martin guitar, Ludwig drums).</a:t>
            </a:r>
          </a:p>
          <a:p>
            <a:pPr>
              <a:spcAft>
                <a:spcPts val="700"/>
              </a:spcAft>
              <a:defRPr sz="1300">
                <a:solidFill>
                  <a:srgbClr val="F5F5F8"/>
                </a:solidFill>
              </a:defRPr>
            </a:pPr>
            <a:r>
              <a:t>•  Features a real-time moving music visualizer with live frequency numbers.</a:t>
            </a:r>
          </a:p>
          <a:p>
            <a:pPr>
              <a:spcAft>
                <a:spcPts val="700"/>
              </a:spcAft>
              <a:defRPr sz="1300">
                <a:solidFill>
                  <a:srgbClr val="F5F5F8"/>
                </a:solidFill>
              </a:defRPr>
            </a:pPr>
            <a:r>
              <a:t>•  Runs with 1 double-click in any browser without needing any installation.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none">
            <a:spAutoFit/>
          </a:bodyPr>
          <a:lstStyle/>
          <a:p>
            <a:pPr>
              <a:defRPr sz="1100" b="1">
                <a:solidFill>
                  <a:srgbClr val="FFB914"/>
                </a:solidFill>
              </a:defRPr>
            </a:pPr>
            <a:r>
              <a:t>MICROPROCESSOR PROJECT • GROUP - 9</a:t>
            </a:r>
          </a:p>
        </p:txBody>
      </p:sp>
      <p:sp>
        <p:nvSpPr>
          <p:cNvPr id="4" name="TextBox 3"/>
          <p:cNvSpPr txBox="1"/>
          <p:nvPr/>
        </p:nvSpPr>
        <p:spPr>
          <a:xfrm>
            <a:off x="731520" y="640080"/>
            <a:ext cx="10515600" cy="594360"/>
          </a:xfrm>
          <a:prstGeom prst="rect">
            <a:avLst/>
          </a:prstGeom>
          <a:noFill/>
        </p:spPr>
        <p:txBody>
          <a:bodyPr wrap="none">
            <a:spAutoFit/>
          </a:bodyPr>
          <a:lstStyle/>
          <a:p>
            <a:pPr>
              <a:defRPr sz="2500" b="1">
                <a:solidFill>
                  <a:srgbClr val="F5F5F8"/>
                </a:solidFill>
              </a:defRPr>
            </a:pPr>
            <a:r>
              <a:t>Where We Got the Real Sounds Online</a:t>
            </a:r>
          </a:p>
        </p:txBody>
      </p:sp>
      <p:sp>
        <p:nvSpPr>
          <p:cNvPr id="5" name="Rectangle 4"/>
          <p:cNvSpPr/>
          <p:nvPr/>
        </p:nvSpPr>
        <p:spPr>
          <a:xfrm>
            <a:off x="731520" y="1280160"/>
            <a:ext cx="10728655" cy="27432"/>
          </a:xfrm>
          <a:prstGeom prst="rect">
            <a:avLst/>
          </a:prstGeom>
          <a:solidFill>
            <a:srgbClr val="EB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38328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27632"/>
            <a:ext cx="2926080" cy="365760"/>
          </a:xfrm>
          <a:prstGeom prst="rect">
            <a:avLst/>
          </a:prstGeom>
          <a:noFill/>
        </p:spPr>
        <p:txBody>
          <a:bodyPr wrap="none">
            <a:spAutoFit/>
          </a:bodyPr>
          <a:lstStyle/>
          <a:p>
            <a:pPr>
              <a:defRPr sz="1700" b="1">
                <a:solidFill>
                  <a:srgbClr val="EB3C3C"/>
                </a:solidFill>
              </a:defRPr>
            </a:pPr>
            <a:r>
              <a:t>Real Grand Piano Sounds</a:t>
            </a:r>
          </a:p>
        </p:txBody>
      </p:sp>
      <p:sp>
        <p:nvSpPr>
          <p:cNvPr id="8" name="TextBox 7"/>
          <p:cNvSpPr txBox="1"/>
          <p:nvPr/>
        </p:nvSpPr>
        <p:spPr>
          <a:xfrm>
            <a:off x="960120" y="1965960"/>
            <a:ext cx="2926080" cy="274320"/>
          </a:xfrm>
          <a:prstGeom prst="rect">
            <a:avLst/>
          </a:prstGeom>
          <a:noFill/>
        </p:spPr>
        <p:txBody>
          <a:bodyPr wrap="none">
            <a:spAutoFit/>
          </a:bodyPr>
          <a:lstStyle/>
          <a:p>
            <a:pPr>
              <a:defRPr sz="1100">
                <a:solidFill>
                  <a:srgbClr val="AAAFBE"/>
                </a:solidFill>
              </a:defRPr>
            </a:pPr>
            <a:r>
              <a:t>Steinway &amp; Sons Grand Piano</a:t>
            </a:r>
          </a:p>
        </p:txBody>
      </p:sp>
      <p:sp>
        <p:nvSpPr>
          <p:cNvPr id="9" name="TextBox 8"/>
          <p:cNvSpPr txBox="1"/>
          <p:nvPr/>
        </p:nvSpPr>
        <p:spPr>
          <a:xfrm>
            <a:off x="960120" y="2240280"/>
            <a:ext cx="2926080" cy="3931920"/>
          </a:xfrm>
          <a:prstGeom prst="rect">
            <a:avLst/>
          </a:prstGeom>
          <a:noFill/>
        </p:spPr>
        <p:txBody>
          <a:bodyPr wrap="square">
            <a:spAutoFit/>
          </a:bodyPr>
          <a:lstStyle/>
          <a:p>
            <a:pPr>
              <a:spcAft>
                <a:spcPts val="700"/>
              </a:spcAft>
              <a:defRPr sz="1300">
                <a:solidFill>
                  <a:srgbClr val="F5F5F8"/>
                </a:solidFill>
              </a:defRPr>
            </a:pPr>
            <a:r>
              <a:t>•  Where we got it: Downloaded from a professional studio recording of a Steinway &amp; Sons Grand Piano.</a:t>
            </a:r>
          </a:p>
          <a:p>
            <a:pPr>
              <a:spcAft>
                <a:spcPts val="700"/>
              </a:spcAft>
              <a:defRPr sz="1300">
                <a:solidFill>
                  <a:srgbClr val="F5F5F8"/>
                </a:solidFill>
              </a:defRPr>
            </a:pPr>
            <a:r>
              <a:t>•  Notes included: 13 individual notes (C4, D4, E4, F4, G4, A4, B4, C5, plus all black sharp keys).</a:t>
            </a:r>
          </a:p>
          <a:p>
            <a:pPr>
              <a:spcAft>
                <a:spcPts val="700"/>
              </a:spcAft>
              <a:defRPr sz="1300">
                <a:solidFill>
                  <a:srgbClr val="F5F5F8"/>
                </a:solidFill>
              </a:defRPr>
            </a:pPr>
            <a:r>
              <a:t>•  Sound quality: Crystal-clear acoustic recordings with real wooden piano body resonance.</a:t>
            </a:r>
          </a:p>
          <a:p>
            <a:pPr>
              <a:spcAft>
                <a:spcPts val="700"/>
              </a:spcAft>
              <a:defRPr sz="1300">
                <a:solidFill>
                  <a:srgbClr val="F5F5F8"/>
                </a:solidFill>
              </a:defRPr>
            </a:pPr>
            <a:r>
              <a:t>•  How it plays: Keys Q to I play real piano notes with natural sustain pedal release on [SPACE].</a:t>
            </a:r>
          </a:p>
        </p:txBody>
      </p:sp>
      <p:sp>
        <p:nvSpPr>
          <p:cNvPr id="10" name="Rounded Rectangle 9"/>
          <p:cNvSpPr/>
          <p:nvPr/>
        </p:nvSpPr>
        <p:spPr>
          <a:xfrm>
            <a:off x="4343400" y="1463040"/>
            <a:ext cx="338328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627632"/>
            <a:ext cx="2926080" cy="365760"/>
          </a:xfrm>
          <a:prstGeom prst="rect">
            <a:avLst/>
          </a:prstGeom>
          <a:noFill/>
        </p:spPr>
        <p:txBody>
          <a:bodyPr wrap="none">
            <a:spAutoFit/>
          </a:bodyPr>
          <a:lstStyle/>
          <a:p>
            <a:pPr>
              <a:defRPr sz="1700" b="1">
                <a:solidFill>
                  <a:srgbClr val="FFB914"/>
                </a:solidFill>
              </a:defRPr>
            </a:pPr>
            <a:r>
              <a:t>Real Acoustic Guitar Sounds</a:t>
            </a:r>
          </a:p>
        </p:txBody>
      </p:sp>
      <p:sp>
        <p:nvSpPr>
          <p:cNvPr id="12" name="TextBox 11"/>
          <p:cNvSpPr txBox="1"/>
          <p:nvPr/>
        </p:nvSpPr>
        <p:spPr>
          <a:xfrm>
            <a:off x="4572000" y="1965960"/>
            <a:ext cx="2926080" cy="274320"/>
          </a:xfrm>
          <a:prstGeom prst="rect">
            <a:avLst/>
          </a:prstGeom>
          <a:noFill/>
        </p:spPr>
        <p:txBody>
          <a:bodyPr wrap="none">
            <a:spAutoFit/>
          </a:bodyPr>
          <a:lstStyle/>
          <a:p>
            <a:pPr>
              <a:defRPr sz="1100">
                <a:solidFill>
                  <a:srgbClr val="AAAFBE"/>
                </a:solidFill>
              </a:defRPr>
            </a:pPr>
            <a:r>
              <a:t>Martin Acoustic Guitar</a:t>
            </a:r>
          </a:p>
        </p:txBody>
      </p:sp>
      <p:sp>
        <p:nvSpPr>
          <p:cNvPr id="13" name="TextBox 12"/>
          <p:cNvSpPr txBox="1"/>
          <p:nvPr/>
        </p:nvSpPr>
        <p:spPr>
          <a:xfrm>
            <a:off x="4572000" y="2240280"/>
            <a:ext cx="2926080" cy="3931920"/>
          </a:xfrm>
          <a:prstGeom prst="rect">
            <a:avLst/>
          </a:prstGeom>
          <a:noFill/>
        </p:spPr>
        <p:txBody>
          <a:bodyPr wrap="square">
            <a:spAutoFit/>
          </a:bodyPr>
          <a:lstStyle/>
          <a:p>
            <a:pPr>
              <a:spcAft>
                <a:spcPts val="700"/>
              </a:spcAft>
              <a:defRPr sz="1300">
                <a:solidFill>
                  <a:srgbClr val="F5F5F8"/>
                </a:solidFill>
              </a:defRPr>
            </a:pPr>
            <a:r>
              <a:t>•  Where we got it: Downloaded from an acoustic guitar recording session of a Martin D-28 guitar.</a:t>
            </a:r>
          </a:p>
          <a:p>
            <a:pPr>
              <a:spcAft>
                <a:spcPts val="700"/>
              </a:spcAft>
              <a:defRPr sz="1300">
                <a:solidFill>
                  <a:srgbClr val="F5F5F8"/>
                </a:solidFill>
              </a:defRPr>
            </a:pPr>
            <a:r>
              <a:t>•  Sounds included: All 6 individual strings (Low E, A, D, G, B, High E) plus strummed acoustic chords.</a:t>
            </a:r>
          </a:p>
          <a:p>
            <a:pPr>
              <a:spcAft>
                <a:spcPts val="700"/>
              </a:spcAft>
              <a:defRPr sz="1300">
                <a:solidFill>
                  <a:srgbClr val="F5F5F8"/>
                </a:solidFill>
              </a:defRPr>
            </a:pPr>
            <a:r>
              <a:t>•  Sound quality: Real bronze and steel strings with genuine acoustic warmth.</a:t>
            </a:r>
          </a:p>
          <a:p>
            <a:pPr>
              <a:spcAft>
                <a:spcPts val="700"/>
              </a:spcAft>
              <a:defRPr sz="1300">
                <a:solidFill>
                  <a:srgbClr val="F5F5F8"/>
                </a:solidFill>
              </a:defRPr>
            </a:pPr>
            <a:r>
              <a:t>•  How it plays: Plucking strings triggers real acoustic notes and visible string vibrations on screen.</a:t>
            </a:r>
          </a:p>
        </p:txBody>
      </p:sp>
      <p:sp>
        <p:nvSpPr>
          <p:cNvPr id="14" name="Rounded Rectangle 13"/>
          <p:cNvSpPr/>
          <p:nvPr/>
        </p:nvSpPr>
        <p:spPr>
          <a:xfrm>
            <a:off x="7955280" y="1463040"/>
            <a:ext cx="338328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80" y="1627632"/>
            <a:ext cx="2926080" cy="365760"/>
          </a:xfrm>
          <a:prstGeom prst="rect">
            <a:avLst/>
          </a:prstGeom>
          <a:noFill/>
        </p:spPr>
        <p:txBody>
          <a:bodyPr wrap="none">
            <a:spAutoFit/>
          </a:bodyPr>
          <a:lstStyle/>
          <a:p>
            <a:pPr>
              <a:defRPr sz="1700" b="1">
                <a:solidFill>
                  <a:srgbClr val="00E678"/>
                </a:solidFill>
              </a:defRPr>
            </a:pPr>
            <a:r>
              <a:t>Real Studio Drum Sounds</a:t>
            </a:r>
          </a:p>
        </p:txBody>
      </p:sp>
      <p:sp>
        <p:nvSpPr>
          <p:cNvPr id="16" name="TextBox 15"/>
          <p:cNvSpPr txBox="1"/>
          <p:nvPr/>
        </p:nvSpPr>
        <p:spPr>
          <a:xfrm>
            <a:off x="8183880" y="1965960"/>
            <a:ext cx="2926080" cy="274320"/>
          </a:xfrm>
          <a:prstGeom prst="rect">
            <a:avLst/>
          </a:prstGeom>
          <a:noFill/>
        </p:spPr>
        <p:txBody>
          <a:bodyPr wrap="none">
            <a:spAutoFit/>
          </a:bodyPr>
          <a:lstStyle/>
          <a:p>
            <a:pPr>
              <a:defRPr sz="1100">
                <a:solidFill>
                  <a:srgbClr val="AAAFBE"/>
                </a:solidFill>
              </a:defRPr>
            </a:pPr>
            <a:r>
              <a:t>Ludwig Studio Drum Kit</a:t>
            </a:r>
          </a:p>
        </p:txBody>
      </p:sp>
      <p:sp>
        <p:nvSpPr>
          <p:cNvPr id="17" name="TextBox 16"/>
          <p:cNvSpPr txBox="1"/>
          <p:nvPr/>
        </p:nvSpPr>
        <p:spPr>
          <a:xfrm>
            <a:off x="8183880" y="2240280"/>
            <a:ext cx="2926080" cy="3931920"/>
          </a:xfrm>
          <a:prstGeom prst="rect">
            <a:avLst/>
          </a:prstGeom>
          <a:noFill/>
        </p:spPr>
        <p:txBody>
          <a:bodyPr wrap="square">
            <a:spAutoFit/>
          </a:bodyPr>
          <a:lstStyle/>
          <a:p>
            <a:pPr>
              <a:spcAft>
                <a:spcPts val="700"/>
              </a:spcAft>
              <a:defRPr sz="1300">
                <a:solidFill>
                  <a:srgbClr val="F5F5F8"/>
                </a:solidFill>
              </a:defRPr>
            </a:pPr>
            <a:r>
              <a:t>•  Where we got it: Downloaded from high-quality studio mic recordings of a Ludwig Drum Kit.</a:t>
            </a:r>
          </a:p>
          <a:p>
            <a:pPr>
              <a:spcAft>
                <a:spcPts val="700"/>
              </a:spcAft>
              <a:defRPr sz="1300">
                <a:solidFill>
                  <a:srgbClr val="F5F5F8"/>
                </a:solidFill>
              </a:defRPr>
            </a:pPr>
            <a:r>
              <a:t>•  Sounds included:</a:t>
            </a:r>
          </a:p>
          <a:p>
            <a:pPr>
              <a:spcAft>
                <a:spcPts val="700"/>
              </a:spcAft>
              <a:defRPr sz="1300">
                <a:solidFill>
                  <a:srgbClr val="F5F5F8"/>
                </a:solidFill>
              </a:defRPr>
            </a:pPr>
            <a:r>
              <a:t>•  • Deep acoustic Bass Kick drum</a:t>
            </a:r>
          </a:p>
          <a:p>
            <a:pPr>
              <a:spcAft>
                <a:spcPts val="700"/>
              </a:spcAft>
              <a:defRPr sz="1300">
                <a:solidFill>
                  <a:srgbClr val="F5F5F8"/>
                </a:solidFill>
              </a:defRPr>
            </a:pPr>
            <a:r>
              <a:t>•  • Snappy Snare drum with metal wire sound</a:t>
            </a:r>
          </a:p>
          <a:p>
            <a:pPr>
              <a:spcAft>
                <a:spcPts val="700"/>
              </a:spcAft>
              <a:defRPr sz="1300">
                <a:solidFill>
                  <a:srgbClr val="F5F5F8"/>
                </a:solidFill>
              </a:defRPr>
            </a:pPr>
            <a:r>
              <a:t>•  • Metallic brass Hi-Hats</a:t>
            </a:r>
          </a:p>
          <a:p>
            <a:pPr>
              <a:spcAft>
                <a:spcPts val="700"/>
              </a:spcAft>
              <a:defRPr sz="1300">
                <a:solidFill>
                  <a:srgbClr val="F5F5F8"/>
                </a:solidFill>
              </a:defRPr>
            </a:pPr>
            <a:r>
              <a:t>•  • Deep Tom-Toms and explosive Crash Cymbal</a:t>
            </a:r>
          </a:p>
          <a:p>
            <a:pPr>
              <a:spcAft>
                <a:spcPts val="700"/>
              </a:spcAft>
              <a:defRPr sz="1300">
                <a:solidFill>
                  <a:srgbClr val="F5F5F8"/>
                </a:solidFill>
              </a:defRPr>
            </a:pPr>
            <a:r>
              <a:t>•  How it plays: Clicking drums triggers punchy studio hits with visual shockwaves.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none">
            <a:spAutoFit/>
          </a:bodyPr>
          <a:lstStyle/>
          <a:p>
            <a:pPr>
              <a:defRPr sz="1100" b="1">
                <a:solidFill>
                  <a:srgbClr val="FFB914"/>
                </a:solidFill>
              </a:defRPr>
            </a:pPr>
            <a:r>
              <a:t>MICROPROCESSOR PROJECT • GROUP - 9</a:t>
            </a:r>
          </a:p>
        </p:txBody>
      </p:sp>
      <p:sp>
        <p:nvSpPr>
          <p:cNvPr id="4" name="TextBox 3"/>
          <p:cNvSpPr txBox="1"/>
          <p:nvPr/>
        </p:nvSpPr>
        <p:spPr>
          <a:xfrm>
            <a:off x="731520" y="640080"/>
            <a:ext cx="10515600" cy="594360"/>
          </a:xfrm>
          <a:prstGeom prst="rect">
            <a:avLst/>
          </a:prstGeom>
          <a:noFill/>
        </p:spPr>
        <p:txBody>
          <a:bodyPr wrap="none">
            <a:spAutoFit/>
          </a:bodyPr>
          <a:lstStyle/>
          <a:p>
            <a:pPr>
              <a:defRPr sz="2500" b="1">
                <a:solidFill>
                  <a:srgbClr val="F5F5F8"/>
                </a:solidFill>
              </a:defRPr>
            </a:pPr>
            <a:r>
              <a:t>Concert Piano Module</a:t>
            </a:r>
          </a:p>
        </p:txBody>
      </p:sp>
      <p:sp>
        <p:nvSpPr>
          <p:cNvPr id="5" name="Rectangle 4"/>
          <p:cNvSpPr/>
          <p:nvPr/>
        </p:nvSpPr>
        <p:spPr>
          <a:xfrm>
            <a:off x="731520" y="1280160"/>
            <a:ext cx="10728655" cy="27432"/>
          </a:xfrm>
          <a:prstGeom prst="rect">
            <a:avLst/>
          </a:prstGeom>
          <a:solidFill>
            <a:srgbClr val="EB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2064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27632"/>
            <a:ext cx="4663440" cy="365760"/>
          </a:xfrm>
          <a:prstGeom prst="rect">
            <a:avLst/>
          </a:prstGeom>
          <a:noFill/>
        </p:spPr>
        <p:txBody>
          <a:bodyPr wrap="none">
            <a:spAutoFit/>
          </a:bodyPr>
          <a:lstStyle/>
          <a:p>
            <a:pPr>
              <a:defRPr sz="1700" b="1">
                <a:solidFill>
                  <a:srgbClr val="EB3C3C"/>
                </a:solidFill>
              </a:defRPr>
            </a:pPr>
            <a:r>
              <a:t>In emu8086 Assembly (piano.asm)</a:t>
            </a:r>
          </a:p>
        </p:txBody>
      </p:sp>
      <p:sp>
        <p:nvSpPr>
          <p:cNvPr id="8" name="TextBox 7"/>
          <p:cNvSpPr txBox="1"/>
          <p:nvPr/>
        </p:nvSpPr>
        <p:spPr>
          <a:xfrm>
            <a:off x="960120" y="1965960"/>
            <a:ext cx="4663440" cy="274320"/>
          </a:xfrm>
          <a:prstGeom prst="rect">
            <a:avLst/>
          </a:prstGeom>
          <a:noFill/>
        </p:spPr>
        <p:txBody>
          <a:bodyPr wrap="none">
            <a:spAutoFit/>
          </a:bodyPr>
          <a:lstStyle/>
          <a:p>
            <a:pPr>
              <a:defRPr sz="1100">
                <a:solidFill>
                  <a:srgbClr val="AAAFBE"/>
                </a:solidFill>
              </a:defRPr>
            </a:pPr>
            <a:r>
              <a:t>Assembly Code in emu8086</a:t>
            </a:r>
          </a:p>
        </p:txBody>
      </p:sp>
      <p:sp>
        <p:nvSpPr>
          <p:cNvPr id="9" name="TextBox 8"/>
          <p:cNvSpPr txBox="1"/>
          <p:nvPr/>
        </p:nvSpPr>
        <p:spPr>
          <a:xfrm>
            <a:off x="960120" y="2240280"/>
            <a:ext cx="4663440" cy="3931920"/>
          </a:xfrm>
          <a:prstGeom prst="rect">
            <a:avLst/>
          </a:prstGeom>
          <a:noFill/>
        </p:spPr>
        <p:txBody>
          <a:bodyPr wrap="square">
            <a:spAutoFit/>
          </a:bodyPr>
          <a:lstStyle/>
          <a:p>
            <a:pPr>
              <a:spcAft>
                <a:spcPts val="700"/>
              </a:spcAft>
              <a:defRPr sz="1300">
                <a:solidFill>
                  <a:srgbClr val="F5F5F8"/>
                </a:solidFill>
              </a:defRPr>
            </a:pPr>
            <a:r>
              <a:t>•  Drew 3D white and black piano keys using text characters on screen.</a:t>
            </a:r>
          </a:p>
          <a:p>
            <a:pPr>
              <a:spcAft>
                <a:spcPts val="700"/>
              </a:spcAft>
              <a:defRPr sz="1300">
                <a:solidFill>
                  <a:srgbClr val="F5F5F8"/>
                </a:solidFill>
              </a:defRPr>
            </a:pPr>
            <a:r>
              <a:t>•  Keys light up and press down when you type on your keyboard.</a:t>
            </a:r>
          </a:p>
          <a:p>
            <a:pPr>
              <a:spcAft>
                <a:spcPts val="700"/>
              </a:spcAft>
              <a:defRPr sz="1300">
                <a:solidFill>
                  <a:srgbClr val="F5F5F8"/>
                </a:solidFill>
              </a:defRPr>
            </a:pPr>
            <a:r>
              <a:t>•  Play notes using keys Q, W, E, R, T, Y, U, I (white keys) and 2, 3, 5, 6, 7 (black keys).</a:t>
            </a:r>
          </a:p>
          <a:p>
            <a:pPr>
              <a:spcAft>
                <a:spcPts val="700"/>
              </a:spcAft>
              <a:defRPr sz="1300">
                <a:solidFill>
                  <a:srgbClr val="F5F5F8"/>
                </a:solidFill>
              </a:defRPr>
            </a:pPr>
            <a:r>
              <a:t>•  Added [TAB] button to switch between Octave 4 and high Concert Octave 5.</a:t>
            </a:r>
          </a:p>
          <a:p>
            <a:pPr>
              <a:spcAft>
                <a:spcPts val="700"/>
              </a:spcAft>
              <a:defRPr sz="1300">
                <a:solidFill>
                  <a:srgbClr val="F5F5F8"/>
                </a:solidFill>
              </a:defRPr>
            </a:pPr>
            <a:r>
              <a:t>•  Added [SPACE] button to turn on Sustain Pedal so notes ring longer.</a:t>
            </a:r>
          </a:p>
          <a:p>
            <a:pPr>
              <a:spcAft>
                <a:spcPts val="700"/>
              </a:spcAft>
              <a:defRPr sz="1300">
                <a:solidFill>
                  <a:srgbClr val="F5F5F8"/>
                </a:solidFill>
              </a:defRPr>
            </a:pPr>
            <a:r>
              <a:t>•  Formula: Divides sound clock by note frequency to generate the exact tone.</a:t>
            </a:r>
          </a:p>
        </p:txBody>
      </p:sp>
      <p:sp>
        <p:nvSpPr>
          <p:cNvPr id="10" name="Rounded Rectangle 9"/>
          <p:cNvSpPr/>
          <p:nvPr/>
        </p:nvSpPr>
        <p:spPr>
          <a:xfrm>
            <a:off x="6309360" y="1463040"/>
            <a:ext cx="512064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627632"/>
            <a:ext cx="4663440" cy="365760"/>
          </a:xfrm>
          <a:prstGeom prst="rect">
            <a:avLst/>
          </a:prstGeom>
          <a:noFill/>
        </p:spPr>
        <p:txBody>
          <a:bodyPr wrap="none">
            <a:spAutoFit/>
          </a:bodyPr>
          <a:lstStyle/>
          <a:p>
            <a:pPr>
              <a:defRPr sz="1700" b="1">
                <a:solidFill>
                  <a:srgbClr val="FFB914"/>
                </a:solidFill>
              </a:defRPr>
            </a:pPr>
            <a:r>
              <a:t>In Web Studio (HTML/CSS/JS)</a:t>
            </a:r>
          </a:p>
        </p:txBody>
      </p:sp>
      <p:sp>
        <p:nvSpPr>
          <p:cNvPr id="12" name="TextBox 11"/>
          <p:cNvSpPr txBox="1"/>
          <p:nvPr/>
        </p:nvSpPr>
        <p:spPr>
          <a:xfrm>
            <a:off x="6537960" y="1965960"/>
            <a:ext cx="4663440" cy="274320"/>
          </a:xfrm>
          <a:prstGeom prst="rect">
            <a:avLst/>
          </a:prstGeom>
          <a:noFill/>
        </p:spPr>
        <p:txBody>
          <a:bodyPr wrap="none">
            <a:spAutoFit/>
          </a:bodyPr>
          <a:lstStyle/>
          <a:p>
            <a:pPr>
              <a:defRPr sz="1100">
                <a:solidFill>
                  <a:srgbClr val="AAAFBE"/>
                </a:solidFill>
              </a:defRPr>
            </a:pPr>
            <a:r>
              <a:t>Realistic Studio Interface</a:t>
            </a:r>
          </a:p>
        </p:txBody>
      </p:sp>
      <p:sp>
        <p:nvSpPr>
          <p:cNvPr id="13" name="TextBox 12"/>
          <p:cNvSpPr txBox="1"/>
          <p:nvPr/>
        </p:nvSpPr>
        <p:spPr>
          <a:xfrm>
            <a:off x="6537960" y="2240280"/>
            <a:ext cx="4663440" cy="3931920"/>
          </a:xfrm>
          <a:prstGeom prst="rect">
            <a:avLst/>
          </a:prstGeom>
          <a:noFill/>
        </p:spPr>
        <p:txBody>
          <a:bodyPr wrap="square">
            <a:spAutoFit/>
          </a:bodyPr>
          <a:lstStyle/>
          <a:p>
            <a:pPr>
              <a:spcAft>
                <a:spcPts val="700"/>
              </a:spcAft>
              <a:defRPr sz="1300">
                <a:solidFill>
                  <a:srgbClr val="F5F5F8"/>
                </a:solidFill>
              </a:defRPr>
            </a:pPr>
            <a:r>
              <a:t>•  Built a realistic piano interface with ivory white keys and ebony black keys.</a:t>
            </a:r>
          </a:p>
          <a:p>
            <a:pPr>
              <a:spcAft>
                <a:spcPts val="700"/>
              </a:spcAft>
              <a:defRPr sz="1300">
                <a:solidFill>
                  <a:srgbClr val="F5F5F8"/>
                </a:solidFill>
              </a:defRPr>
            </a:pPr>
            <a:r>
              <a:t>•  When a key is clicked or typed, it smoothly sinks down with realistic 3D shadows.</a:t>
            </a:r>
          </a:p>
          <a:p>
            <a:pPr>
              <a:spcAft>
                <a:spcPts val="700"/>
              </a:spcAft>
              <a:defRPr sz="1300">
                <a:solidFill>
                  <a:srgbClr val="F5F5F8"/>
                </a:solidFill>
              </a:defRPr>
            </a:pPr>
            <a:r>
              <a:t>•  Plays genuine 44.1 kHz Steinway Grand Piano audio samples.</a:t>
            </a:r>
          </a:p>
          <a:p>
            <a:pPr>
              <a:spcAft>
                <a:spcPts val="700"/>
              </a:spcAft>
              <a:defRPr sz="1300">
                <a:solidFill>
                  <a:srgbClr val="F5F5F8"/>
                </a:solidFill>
              </a:defRPr>
            </a:pPr>
            <a:r>
              <a:t>•  Sustain pedal button lets notes ring naturally just like a real concert piano.</a:t>
            </a:r>
          </a:p>
          <a:p>
            <a:pPr>
              <a:spcAft>
                <a:spcPts val="700"/>
              </a:spcAft>
              <a:defRPr sz="1300">
                <a:solidFill>
                  <a:srgbClr val="F5F5F8"/>
                </a:solidFill>
              </a:defRPr>
            </a:pPr>
            <a:r>
              <a:t>•  Octave selector lets you play 3 complete octaves cleanly.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none">
            <a:spAutoFit/>
          </a:bodyPr>
          <a:lstStyle/>
          <a:p>
            <a:pPr>
              <a:defRPr sz="1100" b="1">
                <a:solidFill>
                  <a:srgbClr val="FFB914"/>
                </a:solidFill>
              </a:defRPr>
            </a:pPr>
            <a:r>
              <a:t>MICROPROCESSOR PROJECT • GROUP - 9</a:t>
            </a:r>
          </a:p>
        </p:txBody>
      </p:sp>
      <p:sp>
        <p:nvSpPr>
          <p:cNvPr id="4" name="TextBox 3"/>
          <p:cNvSpPr txBox="1"/>
          <p:nvPr/>
        </p:nvSpPr>
        <p:spPr>
          <a:xfrm>
            <a:off x="731520" y="640080"/>
            <a:ext cx="10515600" cy="594360"/>
          </a:xfrm>
          <a:prstGeom prst="rect">
            <a:avLst/>
          </a:prstGeom>
          <a:noFill/>
        </p:spPr>
        <p:txBody>
          <a:bodyPr wrap="none">
            <a:spAutoFit/>
          </a:bodyPr>
          <a:lstStyle/>
          <a:p>
            <a:pPr>
              <a:defRPr sz="2500" b="1">
                <a:solidFill>
                  <a:srgbClr val="F5F5F8"/>
                </a:solidFill>
              </a:defRPr>
            </a:pPr>
            <a:r>
              <a:t>Acoustic Guitar Module</a:t>
            </a:r>
          </a:p>
        </p:txBody>
      </p:sp>
      <p:sp>
        <p:nvSpPr>
          <p:cNvPr id="5" name="Rectangle 4"/>
          <p:cNvSpPr/>
          <p:nvPr/>
        </p:nvSpPr>
        <p:spPr>
          <a:xfrm>
            <a:off x="731520" y="1280160"/>
            <a:ext cx="10728655" cy="27432"/>
          </a:xfrm>
          <a:prstGeom prst="rect">
            <a:avLst/>
          </a:prstGeom>
          <a:solidFill>
            <a:srgbClr val="EB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2064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27632"/>
            <a:ext cx="4663440" cy="365760"/>
          </a:xfrm>
          <a:prstGeom prst="rect">
            <a:avLst/>
          </a:prstGeom>
          <a:noFill/>
        </p:spPr>
        <p:txBody>
          <a:bodyPr wrap="none">
            <a:spAutoFit/>
          </a:bodyPr>
          <a:lstStyle/>
          <a:p>
            <a:pPr>
              <a:defRPr sz="1700" b="1">
                <a:solidFill>
                  <a:srgbClr val="FFB914"/>
                </a:solidFill>
              </a:defRPr>
            </a:pPr>
            <a:r>
              <a:t>In emu8086 Assembly (guitar.asm)</a:t>
            </a:r>
          </a:p>
        </p:txBody>
      </p:sp>
      <p:sp>
        <p:nvSpPr>
          <p:cNvPr id="8" name="TextBox 7"/>
          <p:cNvSpPr txBox="1"/>
          <p:nvPr/>
        </p:nvSpPr>
        <p:spPr>
          <a:xfrm>
            <a:off x="960120" y="1965960"/>
            <a:ext cx="4663440" cy="274320"/>
          </a:xfrm>
          <a:prstGeom prst="rect">
            <a:avLst/>
          </a:prstGeom>
          <a:noFill/>
        </p:spPr>
        <p:txBody>
          <a:bodyPr wrap="none">
            <a:spAutoFit/>
          </a:bodyPr>
          <a:lstStyle/>
          <a:p>
            <a:pPr>
              <a:defRPr sz="1100">
                <a:solidFill>
                  <a:srgbClr val="AAAFBE"/>
                </a:solidFill>
              </a:defRPr>
            </a:pPr>
            <a:r>
              <a:t>Assembly Code in emu8086</a:t>
            </a:r>
          </a:p>
        </p:txBody>
      </p:sp>
      <p:sp>
        <p:nvSpPr>
          <p:cNvPr id="9" name="TextBox 8"/>
          <p:cNvSpPr txBox="1"/>
          <p:nvPr/>
        </p:nvSpPr>
        <p:spPr>
          <a:xfrm>
            <a:off x="960120" y="2240280"/>
            <a:ext cx="4663440" cy="3931920"/>
          </a:xfrm>
          <a:prstGeom prst="rect">
            <a:avLst/>
          </a:prstGeom>
          <a:noFill/>
        </p:spPr>
        <p:txBody>
          <a:bodyPr wrap="square">
            <a:spAutoFit/>
          </a:bodyPr>
          <a:lstStyle/>
          <a:p>
            <a:pPr>
              <a:spcAft>
                <a:spcPts val="700"/>
              </a:spcAft>
              <a:defRPr sz="1300">
                <a:solidFill>
                  <a:srgbClr val="F5F5F8"/>
                </a:solidFill>
              </a:defRPr>
            </a:pPr>
            <a:r>
              <a:t>•  Drew a 12-fret guitar fretboard with 6 strings and fret dots on screen.</a:t>
            </a:r>
          </a:p>
          <a:p>
            <a:pPr>
              <a:spcAft>
                <a:spcPts val="700"/>
              </a:spcAft>
              <a:defRPr sz="1300">
                <a:solidFill>
                  <a:srgbClr val="F5F5F8"/>
                </a:solidFill>
              </a:defRPr>
            </a:pPr>
            <a:r>
              <a:t>•  Tuned all 6 strings from Low E to High E just like a real guitar.</a:t>
            </a:r>
          </a:p>
          <a:p>
            <a:pPr>
              <a:spcAft>
                <a:spcPts val="700"/>
              </a:spcAft>
              <a:defRPr sz="1300">
                <a:solidFill>
                  <a:srgbClr val="F5F5F8"/>
                </a:solidFill>
              </a:defRPr>
            </a:pPr>
            <a:r>
              <a:t>•  Added pick scratch effect: a quick chirp sound when you pluck a string.</a:t>
            </a:r>
          </a:p>
          <a:p>
            <a:pPr>
              <a:spcAft>
                <a:spcPts val="700"/>
              </a:spcAft>
              <a:defRPr sz="1300">
                <a:solidFill>
                  <a:srgbClr val="F5F5F8"/>
                </a:solidFill>
              </a:defRPr>
            </a:pPr>
            <a:r>
              <a:t>•  Added finger vibrato effect: note gently wobbles for a natural singing sound.</a:t>
            </a:r>
          </a:p>
          <a:p>
            <a:pPr>
              <a:spcAft>
                <a:spcPts val="700"/>
              </a:spcAft>
              <a:defRPr sz="1300">
                <a:solidFill>
                  <a:srgbClr val="F5F5F8"/>
                </a:solidFill>
              </a:defRPr>
            </a:pPr>
            <a:r>
              <a:t>•  Added [S] button to strum a full acoustic chord across all strings.</a:t>
            </a:r>
          </a:p>
        </p:txBody>
      </p:sp>
      <p:sp>
        <p:nvSpPr>
          <p:cNvPr id="10" name="Rounded Rectangle 9"/>
          <p:cNvSpPr/>
          <p:nvPr/>
        </p:nvSpPr>
        <p:spPr>
          <a:xfrm>
            <a:off x="6309360" y="1463040"/>
            <a:ext cx="512064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627632"/>
            <a:ext cx="4663440" cy="365760"/>
          </a:xfrm>
          <a:prstGeom prst="rect">
            <a:avLst/>
          </a:prstGeom>
          <a:noFill/>
        </p:spPr>
        <p:txBody>
          <a:bodyPr wrap="none">
            <a:spAutoFit/>
          </a:bodyPr>
          <a:lstStyle/>
          <a:p>
            <a:pPr>
              <a:defRPr sz="1700" b="1">
                <a:solidFill>
                  <a:srgbClr val="EB3C3C"/>
                </a:solidFill>
              </a:defRPr>
            </a:pPr>
            <a:r>
              <a:t>In Web Studio (HTML/CSS/JS)</a:t>
            </a:r>
          </a:p>
        </p:txBody>
      </p:sp>
      <p:sp>
        <p:nvSpPr>
          <p:cNvPr id="12" name="TextBox 11"/>
          <p:cNvSpPr txBox="1"/>
          <p:nvPr/>
        </p:nvSpPr>
        <p:spPr>
          <a:xfrm>
            <a:off x="6537960" y="1965960"/>
            <a:ext cx="4663440" cy="274320"/>
          </a:xfrm>
          <a:prstGeom prst="rect">
            <a:avLst/>
          </a:prstGeom>
          <a:noFill/>
        </p:spPr>
        <p:txBody>
          <a:bodyPr wrap="none">
            <a:spAutoFit/>
          </a:bodyPr>
          <a:lstStyle/>
          <a:p>
            <a:pPr>
              <a:defRPr sz="1100">
                <a:solidFill>
                  <a:srgbClr val="AAAFBE"/>
                </a:solidFill>
              </a:defRPr>
            </a:pPr>
            <a:r>
              <a:t>Realistic Studio Interface</a:t>
            </a:r>
          </a:p>
        </p:txBody>
      </p:sp>
      <p:sp>
        <p:nvSpPr>
          <p:cNvPr id="13" name="TextBox 12"/>
          <p:cNvSpPr txBox="1"/>
          <p:nvPr/>
        </p:nvSpPr>
        <p:spPr>
          <a:xfrm>
            <a:off x="6537960" y="2240280"/>
            <a:ext cx="4663440" cy="3931920"/>
          </a:xfrm>
          <a:prstGeom prst="rect">
            <a:avLst/>
          </a:prstGeom>
          <a:noFill/>
        </p:spPr>
        <p:txBody>
          <a:bodyPr wrap="square">
            <a:spAutoFit/>
          </a:bodyPr>
          <a:lstStyle/>
          <a:p>
            <a:pPr>
              <a:spcAft>
                <a:spcPts val="700"/>
              </a:spcAft>
              <a:defRPr sz="1300">
                <a:solidFill>
                  <a:srgbClr val="F5F5F8"/>
                </a:solidFill>
              </a:defRPr>
            </a:pPr>
            <a:r>
              <a:t>•  Built a photorealistic guitar neck with soundhole and nickel frets.</a:t>
            </a:r>
          </a:p>
          <a:p>
            <a:pPr>
              <a:spcAft>
                <a:spcPts val="700"/>
              </a:spcAft>
              <a:defRPr sz="1300">
                <a:solidFill>
                  <a:srgbClr val="F5F5F8"/>
                </a:solidFill>
              </a:defRPr>
            </a:pPr>
            <a:r>
              <a:t>•  When you pluck strings Q, W, E, R, T, Y, strings physically vibrate on screen.</a:t>
            </a:r>
          </a:p>
          <a:p>
            <a:pPr>
              <a:spcAft>
                <a:spcPts val="700"/>
              </a:spcAft>
              <a:defRPr sz="1300">
                <a:solidFill>
                  <a:srgbClr val="F5F5F8"/>
                </a:solidFill>
              </a:defRPr>
            </a:pPr>
            <a:r>
              <a:t>•  Plays real Martin acoustic guitar recordings for every string.</a:t>
            </a:r>
          </a:p>
          <a:p>
            <a:pPr>
              <a:spcAft>
                <a:spcPts val="700"/>
              </a:spcAft>
              <a:defRPr sz="1300">
                <a:solidFill>
                  <a:srgbClr val="F5F5F8"/>
                </a:solidFill>
              </a:defRPr>
            </a:pPr>
            <a:r>
              <a:t>•  Includes instant chord buttons for E Minor, G Major, C Major, and D Major.</a:t>
            </a:r>
          </a:p>
          <a:p>
            <a:pPr>
              <a:spcAft>
                <a:spcPts val="700"/>
              </a:spcAft>
              <a:defRPr sz="1300">
                <a:solidFill>
                  <a:srgbClr val="F5F5F8"/>
                </a:solidFill>
              </a:defRPr>
            </a:pPr>
            <a:r>
              <a:t>•  In song mode, the guitar plucks out the melody notes automatically.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none">
            <a:spAutoFit/>
          </a:bodyPr>
          <a:lstStyle/>
          <a:p>
            <a:pPr>
              <a:defRPr sz="1100" b="1">
                <a:solidFill>
                  <a:srgbClr val="FFB914"/>
                </a:solidFill>
              </a:defRPr>
            </a:pPr>
            <a:r>
              <a:t>MICROPROCESSOR PROJECT • GROUP - 9</a:t>
            </a:r>
          </a:p>
        </p:txBody>
      </p:sp>
      <p:sp>
        <p:nvSpPr>
          <p:cNvPr id="4" name="TextBox 3"/>
          <p:cNvSpPr txBox="1"/>
          <p:nvPr/>
        </p:nvSpPr>
        <p:spPr>
          <a:xfrm>
            <a:off x="731520" y="640080"/>
            <a:ext cx="10515600" cy="594360"/>
          </a:xfrm>
          <a:prstGeom prst="rect">
            <a:avLst/>
          </a:prstGeom>
          <a:noFill/>
        </p:spPr>
        <p:txBody>
          <a:bodyPr wrap="none">
            <a:spAutoFit/>
          </a:bodyPr>
          <a:lstStyle/>
          <a:p>
            <a:pPr>
              <a:defRPr sz="2500" b="1">
                <a:solidFill>
                  <a:srgbClr val="F5F5F8"/>
                </a:solidFill>
              </a:defRPr>
            </a:pPr>
            <a:r>
              <a:t>Studio Drum Kit Module</a:t>
            </a:r>
          </a:p>
        </p:txBody>
      </p:sp>
      <p:sp>
        <p:nvSpPr>
          <p:cNvPr id="5" name="Rectangle 4"/>
          <p:cNvSpPr/>
          <p:nvPr/>
        </p:nvSpPr>
        <p:spPr>
          <a:xfrm>
            <a:off x="731520" y="1280160"/>
            <a:ext cx="10728655" cy="27432"/>
          </a:xfrm>
          <a:prstGeom prst="rect">
            <a:avLst/>
          </a:prstGeom>
          <a:solidFill>
            <a:srgbClr val="EB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2064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27632"/>
            <a:ext cx="4663440" cy="365760"/>
          </a:xfrm>
          <a:prstGeom prst="rect">
            <a:avLst/>
          </a:prstGeom>
          <a:noFill/>
        </p:spPr>
        <p:txBody>
          <a:bodyPr wrap="none">
            <a:spAutoFit/>
          </a:bodyPr>
          <a:lstStyle/>
          <a:p>
            <a:pPr>
              <a:defRPr sz="1700" b="1">
                <a:solidFill>
                  <a:srgbClr val="EB3C3C"/>
                </a:solidFill>
              </a:defRPr>
            </a:pPr>
            <a:r>
              <a:t>In emu8086 Assembly (drums.asm)</a:t>
            </a:r>
          </a:p>
        </p:txBody>
      </p:sp>
      <p:sp>
        <p:nvSpPr>
          <p:cNvPr id="8" name="TextBox 7"/>
          <p:cNvSpPr txBox="1"/>
          <p:nvPr/>
        </p:nvSpPr>
        <p:spPr>
          <a:xfrm>
            <a:off x="960120" y="1965960"/>
            <a:ext cx="4663440" cy="274320"/>
          </a:xfrm>
          <a:prstGeom prst="rect">
            <a:avLst/>
          </a:prstGeom>
          <a:noFill/>
        </p:spPr>
        <p:txBody>
          <a:bodyPr wrap="none">
            <a:spAutoFit/>
          </a:bodyPr>
          <a:lstStyle/>
          <a:p>
            <a:pPr>
              <a:defRPr sz="1100">
                <a:solidFill>
                  <a:srgbClr val="AAAFBE"/>
                </a:solidFill>
              </a:defRPr>
            </a:pPr>
            <a:r>
              <a:t>Assembly Code in emu8086</a:t>
            </a:r>
          </a:p>
        </p:txBody>
      </p:sp>
      <p:sp>
        <p:nvSpPr>
          <p:cNvPr id="9" name="TextBox 8"/>
          <p:cNvSpPr txBox="1"/>
          <p:nvPr/>
        </p:nvSpPr>
        <p:spPr>
          <a:xfrm>
            <a:off x="960120" y="2240280"/>
            <a:ext cx="4663440" cy="3931920"/>
          </a:xfrm>
          <a:prstGeom prst="rect">
            <a:avLst/>
          </a:prstGeom>
          <a:noFill/>
        </p:spPr>
        <p:txBody>
          <a:bodyPr wrap="square">
            <a:spAutoFit/>
          </a:bodyPr>
          <a:lstStyle/>
          <a:p>
            <a:pPr>
              <a:spcAft>
                <a:spcPts val="700"/>
              </a:spcAft>
              <a:defRPr sz="1300">
                <a:solidFill>
                  <a:srgbClr val="F5F5F8"/>
                </a:solidFill>
              </a:defRPr>
            </a:pPr>
            <a:r>
              <a:t>•  The Challenge: PC speaker only makes tones, but drums need unpitched noise.</a:t>
            </a:r>
          </a:p>
          <a:p>
            <a:pPr>
              <a:spcAft>
                <a:spcPts val="700"/>
              </a:spcAft>
              <a:defRPr sz="1300">
                <a:solidFill>
                  <a:srgbClr val="F5F5F8"/>
                </a:solidFill>
              </a:defRPr>
            </a:pPr>
            <a:r>
              <a:t>•  Solution: Created an assembly random number noise generator to make real white noise.</a:t>
            </a:r>
          </a:p>
          <a:p>
            <a:pPr>
              <a:spcAft>
                <a:spcPts val="700"/>
              </a:spcAft>
              <a:defRPr sz="1300">
                <a:solidFill>
                  <a:srgbClr val="F5F5F8"/>
                </a:solidFill>
              </a:defRPr>
            </a:pPr>
            <a:r>
              <a:t>•  Snare Drum: Blends white noise with a wooden thump sound.</a:t>
            </a:r>
          </a:p>
          <a:p>
            <a:pPr>
              <a:spcAft>
                <a:spcPts val="700"/>
              </a:spcAft>
              <a:defRPr sz="1300">
                <a:solidFill>
                  <a:srgbClr val="F5F5F8"/>
                </a:solidFill>
              </a:defRPr>
            </a:pPr>
            <a:r>
              <a:t>•  Kick Drum: Rapidly drops frequency from 420 Hz to 42 Hz for a punchy boom.</a:t>
            </a:r>
          </a:p>
          <a:p>
            <a:pPr>
              <a:spcAft>
                <a:spcPts val="700"/>
              </a:spcAft>
              <a:defRPr sz="1300">
                <a:solidFill>
                  <a:srgbClr val="F5F5F8"/>
                </a:solidFill>
              </a:defRPr>
            </a:pPr>
            <a:r>
              <a:t>•  Hi-Hats &amp; Crash: Short crisp noise for hi-hats, long shimmering noise for crash cymbals.</a:t>
            </a:r>
          </a:p>
        </p:txBody>
      </p:sp>
      <p:sp>
        <p:nvSpPr>
          <p:cNvPr id="10" name="Rounded Rectangle 9"/>
          <p:cNvSpPr/>
          <p:nvPr/>
        </p:nvSpPr>
        <p:spPr>
          <a:xfrm>
            <a:off x="6309360" y="1463040"/>
            <a:ext cx="512064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627632"/>
            <a:ext cx="4663440" cy="365760"/>
          </a:xfrm>
          <a:prstGeom prst="rect">
            <a:avLst/>
          </a:prstGeom>
          <a:noFill/>
        </p:spPr>
        <p:txBody>
          <a:bodyPr wrap="none">
            <a:spAutoFit/>
          </a:bodyPr>
          <a:lstStyle/>
          <a:p>
            <a:pPr>
              <a:defRPr sz="1700" b="1">
                <a:solidFill>
                  <a:srgbClr val="FFB914"/>
                </a:solidFill>
              </a:defRPr>
            </a:pPr>
            <a:r>
              <a:t>In Web Studio (HTML/CSS/JS)</a:t>
            </a:r>
          </a:p>
        </p:txBody>
      </p:sp>
      <p:sp>
        <p:nvSpPr>
          <p:cNvPr id="12" name="TextBox 11"/>
          <p:cNvSpPr txBox="1"/>
          <p:nvPr/>
        </p:nvSpPr>
        <p:spPr>
          <a:xfrm>
            <a:off x="6537960" y="1965960"/>
            <a:ext cx="4663440" cy="274320"/>
          </a:xfrm>
          <a:prstGeom prst="rect">
            <a:avLst/>
          </a:prstGeom>
          <a:noFill/>
        </p:spPr>
        <p:txBody>
          <a:bodyPr wrap="none">
            <a:spAutoFit/>
          </a:bodyPr>
          <a:lstStyle/>
          <a:p>
            <a:pPr>
              <a:defRPr sz="1100">
                <a:solidFill>
                  <a:srgbClr val="AAAFBE"/>
                </a:solidFill>
              </a:defRPr>
            </a:pPr>
            <a:r>
              <a:t>Realistic Studio Interface</a:t>
            </a:r>
          </a:p>
        </p:txBody>
      </p:sp>
      <p:sp>
        <p:nvSpPr>
          <p:cNvPr id="13" name="TextBox 12"/>
          <p:cNvSpPr txBox="1"/>
          <p:nvPr/>
        </p:nvSpPr>
        <p:spPr>
          <a:xfrm>
            <a:off x="6537960" y="2240280"/>
            <a:ext cx="4663440" cy="3931920"/>
          </a:xfrm>
          <a:prstGeom prst="rect">
            <a:avLst/>
          </a:prstGeom>
          <a:noFill/>
        </p:spPr>
        <p:txBody>
          <a:bodyPr wrap="square">
            <a:spAutoFit/>
          </a:bodyPr>
          <a:lstStyle/>
          <a:p>
            <a:pPr>
              <a:spcAft>
                <a:spcPts val="700"/>
              </a:spcAft>
              <a:defRPr sz="1300">
                <a:solidFill>
                  <a:srgbClr val="F5F5F8"/>
                </a:solidFill>
              </a:defRPr>
            </a:pPr>
            <a:r>
              <a:t>•  Built a 3D stage drum kit layout with Kick, Snare, Toms, Hi-Hat, and Crash.</a:t>
            </a:r>
          </a:p>
          <a:p>
            <a:pPr>
              <a:spcAft>
                <a:spcPts val="700"/>
              </a:spcAft>
              <a:defRPr sz="1300">
                <a:solidFill>
                  <a:srgbClr val="F5F5F8"/>
                </a:solidFill>
              </a:defRPr>
            </a:pPr>
            <a:r>
              <a:t>•  Pads pulse and show animated shockwave rings when hit.</a:t>
            </a:r>
          </a:p>
          <a:p>
            <a:pPr>
              <a:spcAft>
                <a:spcPts val="700"/>
              </a:spcAft>
              <a:defRPr sz="1300">
                <a:solidFill>
                  <a:srgbClr val="F5F5F8"/>
                </a:solidFill>
              </a:defRPr>
            </a:pPr>
            <a:r>
              <a:t>•  Plays genuine Ludwig acoustic drum kit recordings with punchy acoustic impact.</a:t>
            </a:r>
          </a:p>
          <a:p>
            <a:pPr>
              <a:spcAft>
                <a:spcPts val="700"/>
              </a:spcAft>
              <a:defRPr sz="1300">
                <a:solidFill>
                  <a:srgbClr val="F5F5F8"/>
                </a:solidFill>
              </a:defRPr>
            </a:pPr>
            <a:r>
              <a:t>•  Play with keys: Q (Kick), W (Snare), E (Hi-Hat), R (Tom), T (Crash).</a:t>
            </a:r>
          </a:p>
          <a:p>
            <a:pPr>
              <a:spcAft>
                <a:spcPts val="700"/>
              </a:spcAft>
              <a:defRPr sz="1300">
                <a:solidFill>
                  <a:srgbClr val="F5F5F8"/>
                </a:solidFill>
              </a:defRPr>
            </a:pPr>
            <a:r>
              <a:t>•  In song mode, plays a real rock drum beat in time with the music.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none">
            <a:spAutoFit/>
          </a:bodyPr>
          <a:lstStyle/>
          <a:p>
            <a:pPr>
              <a:defRPr sz="1100" b="1">
                <a:solidFill>
                  <a:srgbClr val="FFB914"/>
                </a:solidFill>
              </a:defRPr>
            </a:pPr>
            <a:r>
              <a:t>MICROPROCESSOR PROJECT • GROUP - 9</a:t>
            </a:r>
          </a:p>
        </p:txBody>
      </p:sp>
      <p:sp>
        <p:nvSpPr>
          <p:cNvPr id="4" name="TextBox 3"/>
          <p:cNvSpPr txBox="1"/>
          <p:nvPr/>
        </p:nvSpPr>
        <p:spPr>
          <a:xfrm>
            <a:off x="731520" y="640080"/>
            <a:ext cx="10515600" cy="594360"/>
          </a:xfrm>
          <a:prstGeom prst="rect">
            <a:avLst/>
          </a:prstGeom>
          <a:noFill/>
        </p:spPr>
        <p:txBody>
          <a:bodyPr wrap="none">
            <a:spAutoFit/>
          </a:bodyPr>
          <a:lstStyle/>
          <a:p>
            <a:pPr>
              <a:defRPr sz="2500" b="1">
                <a:solidFill>
                  <a:srgbClr val="F5F5F8"/>
                </a:solidFill>
              </a:defRPr>
            </a:pPr>
            <a:r>
              <a:t>Songs &amp; Equalizer Module</a:t>
            </a:r>
          </a:p>
        </p:txBody>
      </p:sp>
      <p:sp>
        <p:nvSpPr>
          <p:cNvPr id="5" name="Rectangle 4"/>
          <p:cNvSpPr/>
          <p:nvPr/>
        </p:nvSpPr>
        <p:spPr>
          <a:xfrm>
            <a:off x="731520" y="1280160"/>
            <a:ext cx="10728655" cy="27432"/>
          </a:xfrm>
          <a:prstGeom prst="rect">
            <a:avLst/>
          </a:prstGeom>
          <a:solidFill>
            <a:srgbClr val="EB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2064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27632"/>
            <a:ext cx="4663440" cy="365760"/>
          </a:xfrm>
          <a:prstGeom prst="rect">
            <a:avLst/>
          </a:prstGeom>
          <a:noFill/>
        </p:spPr>
        <p:txBody>
          <a:bodyPr wrap="none">
            <a:spAutoFit/>
          </a:bodyPr>
          <a:lstStyle/>
          <a:p>
            <a:pPr>
              <a:defRPr sz="1700" b="1">
                <a:solidFill>
                  <a:srgbClr val="FFB914"/>
                </a:solidFill>
              </a:defRPr>
            </a:pPr>
            <a:r>
              <a:t>Song Notes &amp; Timing (songs.asm)</a:t>
            </a:r>
          </a:p>
        </p:txBody>
      </p:sp>
      <p:sp>
        <p:nvSpPr>
          <p:cNvPr id="8" name="TextBox 7"/>
          <p:cNvSpPr txBox="1"/>
          <p:nvPr/>
        </p:nvSpPr>
        <p:spPr>
          <a:xfrm>
            <a:off x="960120" y="1965960"/>
            <a:ext cx="4663440" cy="274320"/>
          </a:xfrm>
          <a:prstGeom prst="rect">
            <a:avLst/>
          </a:prstGeom>
          <a:noFill/>
        </p:spPr>
        <p:txBody>
          <a:bodyPr wrap="none">
            <a:spAutoFit/>
          </a:bodyPr>
          <a:lstStyle/>
          <a:p>
            <a:pPr>
              <a:defRPr sz="1100">
                <a:solidFill>
                  <a:srgbClr val="AAAFBE"/>
                </a:solidFill>
              </a:defRPr>
            </a:pPr>
            <a:r>
              <a:t>Songs Data &amp; Timing</a:t>
            </a:r>
          </a:p>
        </p:txBody>
      </p:sp>
      <p:sp>
        <p:nvSpPr>
          <p:cNvPr id="9" name="TextBox 8"/>
          <p:cNvSpPr txBox="1"/>
          <p:nvPr/>
        </p:nvSpPr>
        <p:spPr>
          <a:xfrm>
            <a:off x="960120" y="2240280"/>
            <a:ext cx="4663440" cy="3931920"/>
          </a:xfrm>
          <a:prstGeom prst="rect">
            <a:avLst/>
          </a:prstGeom>
          <a:noFill/>
        </p:spPr>
        <p:txBody>
          <a:bodyPr wrap="square">
            <a:spAutoFit/>
          </a:bodyPr>
          <a:lstStyle/>
          <a:p>
            <a:pPr>
              <a:spcAft>
                <a:spcPts val="700"/>
              </a:spcAft>
              <a:defRPr sz="1300">
                <a:solidFill>
                  <a:srgbClr val="F5F5F8"/>
                </a:solidFill>
              </a:defRPr>
            </a:pPr>
            <a:r>
              <a:t>•  Stored musical notes and timings for 6 classic songs:</a:t>
            </a:r>
          </a:p>
          <a:p>
            <a:pPr>
              <a:spcAft>
                <a:spcPts val="700"/>
              </a:spcAft>
              <a:defRPr sz="1300">
                <a:solidFill>
                  <a:srgbClr val="F5F5F8"/>
                </a:solidFill>
              </a:defRPr>
            </a:pPr>
            <a:r>
              <a:t>•  1. Happy Birthday</a:t>
            </a:r>
          </a:p>
          <a:p>
            <a:pPr>
              <a:spcAft>
                <a:spcPts val="700"/>
              </a:spcAft>
              <a:defRPr sz="1300">
                <a:solidFill>
                  <a:srgbClr val="F5F5F8"/>
                </a:solidFill>
              </a:defRPr>
            </a:pPr>
            <a:r>
              <a:t>•  2. Twinkle Twinkle Little Star</a:t>
            </a:r>
          </a:p>
          <a:p>
            <a:pPr>
              <a:spcAft>
                <a:spcPts val="700"/>
              </a:spcAft>
              <a:defRPr sz="1300">
                <a:solidFill>
                  <a:srgbClr val="F5F5F8"/>
                </a:solidFill>
              </a:defRPr>
            </a:pPr>
            <a:r>
              <a:t>•  3. Beethoven's Ode to Joy</a:t>
            </a:r>
          </a:p>
          <a:p>
            <a:pPr>
              <a:spcAft>
                <a:spcPts val="700"/>
              </a:spcAft>
              <a:defRPr sz="1300">
                <a:solidFill>
                  <a:srgbClr val="F5F5F8"/>
                </a:solidFill>
              </a:defRPr>
            </a:pPr>
            <a:r>
              <a:t>•  4. Jingle Bells</a:t>
            </a:r>
          </a:p>
          <a:p>
            <a:pPr>
              <a:spcAft>
                <a:spcPts val="700"/>
              </a:spcAft>
              <a:defRPr sz="1300">
                <a:solidFill>
                  <a:srgbClr val="F5F5F8"/>
                </a:solidFill>
              </a:defRPr>
            </a:pPr>
            <a:r>
              <a:t>•  5. Mary Had a Little Lamb</a:t>
            </a:r>
          </a:p>
          <a:p>
            <a:pPr>
              <a:spcAft>
                <a:spcPts val="700"/>
              </a:spcAft>
              <a:defRPr sz="1300">
                <a:solidFill>
                  <a:srgbClr val="F5F5F8"/>
                </a:solidFill>
              </a:defRPr>
            </a:pPr>
            <a:r>
              <a:t>•  6. London Bridge Is Falling Down</a:t>
            </a:r>
          </a:p>
          <a:p>
            <a:pPr>
              <a:spcAft>
                <a:spcPts val="700"/>
              </a:spcAft>
              <a:defRPr sz="1300">
                <a:solidFill>
                  <a:srgbClr val="F5F5F8"/>
                </a:solidFill>
              </a:defRPr>
            </a:pPr>
            <a:r>
              <a:t>•  Used timer delay loops so each song plays at the right tempo.</a:t>
            </a:r>
          </a:p>
          <a:p>
            <a:pPr>
              <a:spcAft>
                <a:spcPts val="700"/>
              </a:spcAft>
              <a:defRPr sz="1300">
                <a:solidFill>
                  <a:srgbClr val="F5F5F8"/>
                </a:solidFill>
              </a:defRPr>
            </a:pPr>
            <a:r>
              <a:t>•  Connected the same song notes into Web Studio.</a:t>
            </a:r>
          </a:p>
        </p:txBody>
      </p:sp>
      <p:sp>
        <p:nvSpPr>
          <p:cNvPr id="10" name="Rounded Rectangle 9"/>
          <p:cNvSpPr/>
          <p:nvPr/>
        </p:nvSpPr>
        <p:spPr>
          <a:xfrm>
            <a:off x="6309360" y="1463040"/>
            <a:ext cx="512064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627632"/>
            <a:ext cx="4663440" cy="365760"/>
          </a:xfrm>
          <a:prstGeom prst="rect">
            <a:avLst/>
          </a:prstGeom>
          <a:noFill/>
        </p:spPr>
        <p:txBody>
          <a:bodyPr wrap="none">
            <a:spAutoFit/>
          </a:bodyPr>
          <a:lstStyle/>
          <a:p>
            <a:pPr>
              <a:defRPr sz="1700" b="1">
                <a:solidFill>
                  <a:srgbClr val="00E678"/>
                </a:solidFill>
              </a:defRPr>
            </a:pPr>
            <a:r>
              <a:t>Jukebox Player &amp; Visualizer</a:t>
            </a:r>
          </a:p>
        </p:txBody>
      </p:sp>
      <p:sp>
        <p:nvSpPr>
          <p:cNvPr id="12" name="TextBox 11"/>
          <p:cNvSpPr txBox="1"/>
          <p:nvPr/>
        </p:nvSpPr>
        <p:spPr>
          <a:xfrm>
            <a:off x="6537960" y="1965960"/>
            <a:ext cx="4663440" cy="274320"/>
          </a:xfrm>
          <a:prstGeom prst="rect">
            <a:avLst/>
          </a:prstGeom>
          <a:noFill/>
        </p:spPr>
        <p:txBody>
          <a:bodyPr wrap="none">
            <a:spAutoFit/>
          </a:bodyPr>
          <a:lstStyle/>
          <a:p>
            <a:pPr>
              <a:defRPr sz="1100">
                <a:solidFill>
                  <a:srgbClr val="AAAFBE"/>
                </a:solidFill>
              </a:defRPr>
            </a:pPr>
            <a:r>
              <a:t>Jukebox Player &amp; Visualizer</a:t>
            </a:r>
          </a:p>
        </p:txBody>
      </p:sp>
      <p:sp>
        <p:nvSpPr>
          <p:cNvPr id="13" name="TextBox 12"/>
          <p:cNvSpPr txBox="1"/>
          <p:nvPr/>
        </p:nvSpPr>
        <p:spPr>
          <a:xfrm>
            <a:off x="6537960" y="2240280"/>
            <a:ext cx="4663440" cy="3931920"/>
          </a:xfrm>
          <a:prstGeom prst="rect">
            <a:avLst/>
          </a:prstGeom>
          <a:noFill/>
        </p:spPr>
        <p:txBody>
          <a:bodyPr wrap="square">
            <a:spAutoFit/>
          </a:bodyPr>
          <a:lstStyle/>
          <a:p>
            <a:pPr>
              <a:spcAft>
                <a:spcPts val="700"/>
              </a:spcAft>
              <a:defRPr sz="1300">
                <a:solidFill>
                  <a:srgbClr val="F5F5F8"/>
                </a:solidFill>
              </a:defRPr>
            </a:pPr>
            <a:r>
              <a:t>•  Built the automatic jukebox in emu8086 that plays through the songs.</a:t>
            </a:r>
          </a:p>
          <a:p>
            <a:pPr>
              <a:spcAft>
                <a:spcPts val="700"/>
              </a:spcAft>
              <a:defRPr sz="1300">
                <a:solidFill>
                  <a:srgbClr val="F5F5F8"/>
                </a:solidFill>
              </a:defRPr>
            </a:pPr>
            <a:r>
              <a:t>•  Animated 8 equalizer bars jumping up and down to the music.</a:t>
            </a:r>
          </a:p>
          <a:p>
            <a:pPr>
              <a:spcAft>
                <a:spcPts val="700"/>
              </a:spcAft>
              <a:defRPr sz="1300">
                <a:solidFill>
                  <a:srgbClr val="F5F5F8"/>
                </a:solidFill>
              </a:defRPr>
            </a:pPr>
            <a:r>
              <a:t>•  Added [ESC] button support so the user can stop playback anytime without crashing.</a:t>
            </a:r>
          </a:p>
          <a:p>
            <a:pPr>
              <a:spcAft>
                <a:spcPts val="700"/>
              </a:spcAft>
              <a:defRPr sz="1300">
                <a:solidFill>
                  <a:srgbClr val="F5F5F8"/>
                </a:solidFill>
              </a:defRPr>
            </a:pPr>
            <a:r>
              <a:t>•  In Web Studio, built a colorful 60 FPS moving music spectrum equalizer.</a:t>
            </a:r>
          </a:p>
          <a:p>
            <a:pPr>
              <a:spcAft>
                <a:spcPts val="700"/>
              </a:spcAft>
              <a:defRPr sz="1300">
                <a:solidFill>
                  <a:srgbClr val="F5F5F8"/>
                </a:solidFill>
              </a:defRPr>
            </a:pPr>
            <a:r>
              <a:t>•  Users can choose to hear songs played on Grand Piano, Acoustic Guitar, or Drum Groove.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none">
            <a:spAutoFit/>
          </a:bodyPr>
          <a:lstStyle/>
          <a:p>
            <a:pPr>
              <a:defRPr sz="1100" b="1">
                <a:solidFill>
                  <a:srgbClr val="FFB914"/>
                </a:solidFill>
              </a:defRPr>
            </a:pPr>
            <a:r>
              <a:t>MICROPROCESSOR PROJECT • GROUP - 9</a:t>
            </a:r>
          </a:p>
        </p:txBody>
      </p:sp>
      <p:sp>
        <p:nvSpPr>
          <p:cNvPr id="4" name="TextBox 3"/>
          <p:cNvSpPr txBox="1"/>
          <p:nvPr/>
        </p:nvSpPr>
        <p:spPr>
          <a:xfrm>
            <a:off x="731520" y="640080"/>
            <a:ext cx="10515600" cy="594360"/>
          </a:xfrm>
          <a:prstGeom prst="rect">
            <a:avLst/>
          </a:prstGeom>
          <a:noFill/>
        </p:spPr>
        <p:txBody>
          <a:bodyPr wrap="none">
            <a:spAutoFit/>
          </a:bodyPr>
          <a:lstStyle/>
          <a:p>
            <a:pPr>
              <a:defRPr sz="2500" b="1">
                <a:solidFill>
                  <a:srgbClr val="F5F5F8"/>
                </a:solidFill>
              </a:defRPr>
            </a:pPr>
            <a:r>
              <a:t>How to Run Our Project &amp; Live Demo</a:t>
            </a:r>
          </a:p>
        </p:txBody>
      </p:sp>
      <p:sp>
        <p:nvSpPr>
          <p:cNvPr id="5" name="Rectangle 4"/>
          <p:cNvSpPr/>
          <p:nvPr/>
        </p:nvSpPr>
        <p:spPr>
          <a:xfrm>
            <a:off x="731520" y="1280160"/>
            <a:ext cx="10728655" cy="27432"/>
          </a:xfrm>
          <a:prstGeom prst="rect">
            <a:avLst/>
          </a:prstGeom>
          <a:solidFill>
            <a:srgbClr val="EB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2064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27632"/>
            <a:ext cx="4663440" cy="365760"/>
          </a:xfrm>
          <a:prstGeom prst="rect">
            <a:avLst/>
          </a:prstGeom>
          <a:noFill/>
        </p:spPr>
        <p:txBody>
          <a:bodyPr wrap="none">
            <a:spAutoFit/>
          </a:bodyPr>
          <a:lstStyle/>
          <a:p>
            <a:pPr>
              <a:defRPr sz="1700" b="1">
                <a:solidFill>
                  <a:srgbClr val="EB3C3C"/>
                </a:solidFill>
              </a:defRPr>
            </a:pPr>
            <a:r>
              <a:t>1. Running in emu8086 (Assembly)</a:t>
            </a:r>
          </a:p>
        </p:txBody>
      </p:sp>
      <p:sp>
        <p:nvSpPr>
          <p:cNvPr id="8" name="TextBox 7"/>
          <p:cNvSpPr txBox="1"/>
          <p:nvPr/>
        </p:nvSpPr>
        <p:spPr>
          <a:xfrm>
            <a:off x="960120" y="1965960"/>
            <a:ext cx="4663440" cy="274320"/>
          </a:xfrm>
          <a:prstGeom prst="rect">
            <a:avLst/>
          </a:prstGeom>
          <a:noFill/>
        </p:spPr>
        <p:txBody>
          <a:bodyPr wrap="none">
            <a:spAutoFit/>
          </a:bodyPr>
          <a:lstStyle/>
          <a:p>
            <a:pPr>
              <a:defRPr sz="1100">
                <a:solidFill>
                  <a:srgbClr val="AAAFBE"/>
                </a:solidFill>
              </a:defRPr>
            </a:pPr>
            <a:r>
              <a:t>Assembly Emulation Demo</a:t>
            </a:r>
          </a:p>
        </p:txBody>
      </p:sp>
      <p:sp>
        <p:nvSpPr>
          <p:cNvPr id="9" name="TextBox 8"/>
          <p:cNvSpPr txBox="1"/>
          <p:nvPr/>
        </p:nvSpPr>
        <p:spPr>
          <a:xfrm>
            <a:off x="960120" y="2240280"/>
            <a:ext cx="4663440" cy="3931920"/>
          </a:xfrm>
          <a:prstGeom prst="rect">
            <a:avLst/>
          </a:prstGeom>
          <a:noFill/>
        </p:spPr>
        <p:txBody>
          <a:bodyPr wrap="square">
            <a:spAutoFit/>
          </a:bodyPr>
          <a:lstStyle/>
          <a:p>
            <a:pPr>
              <a:spcAft>
                <a:spcPts val="700"/>
              </a:spcAft>
              <a:defRPr sz="1300">
                <a:solidFill>
                  <a:srgbClr val="F5F5F8"/>
                </a:solidFill>
              </a:defRPr>
            </a:pPr>
            <a:r>
              <a:t>•  Step 1: Open emu8086 software on the computer.</a:t>
            </a:r>
          </a:p>
          <a:p>
            <a:pPr>
              <a:spcAft>
                <a:spcPts val="700"/>
              </a:spcAft>
              <a:defRPr sz="1300">
                <a:solidFill>
                  <a:srgbClr val="F5F5F8"/>
                </a:solidFill>
              </a:defRPr>
            </a:pPr>
            <a:r>
              <a:t>•  Step 2: Open file 'kernel.asm' from the project folder.</a:t>
            </a:r>
          </a:p>
          <a:p>
            <a:pPr>
              <a:spcAft>
                <a:spcPts val="700"/>
              </a:spcAft>
              <a:defRPr sz="1300">
                <a:solidFill>
                  <a:srgbClr val="F5F5F8"/>
                </a:solidFill>
              </a:defRPr>
            </a:pPr>
            <a:r>
              <a:t>•  Step 3: Click the green 'Emulate' button on the toolbar.</a:t>
            </a:r>
          </a:p>
          <a:p>
            <a:pPr>
              <a:spcAft>
                <a:spcPts val="700"/>
              </a:spcAft>
              <a:defRPr sz="1300">
                <a:solidFill>
                  <a:srgbClr val="F5F5F8"/>
                </a:solidFill>
              </a:defRPr>
            </a:pPr>
            <a:r>
              <a:t>•  Step 4: Click 'Run' in the emulator window.</a:t>
            </a:r>
          </a:p>
          <a:p>
            <a:pPr>
              <a:spcAft>
                <a:spcPts val="700"/>
              </a:spcAft>
              <a:defRPr sz="1300">
                <a:solidFill>
                  <a:srgbClr val="F5F5F8"/>
                </a:solidFill>
              </a:defRPr>
            </a:pPr>
            <a:r>
              <a:t>•  Result: The Crimson Orbit Band starts instantly! You can play Piano (1), Guitar (2), Drums (3), or Songs (4) through the PC speaker.</a:t>
            </a:r>
          </a:p>
        </p:txBody>
      </p:sp>
      <p:sp>
        <p:nvSpPr>
          <p:cNvPr id="10" name="Rounded Rectangle 9"/>
          <p:cNvSpPr/>
          <p:nvPr/>
        </p:nvSpPr>
        <p:spPr>
          <a:xfrm>
            <a:off x="6309360" y="1463040"/>
            <a:ext cx="5120640" cy="48463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627632"/>
            <a:ext cx="4663440" cy="365760"/>
          </a:xfrm>
          <a:prstGeom prst="rect">
            <a:avLst/>
          </a:prstGeom>
          <a:noFill/>
        </p:spPr>
        <p:txBody>
          <a:bodyPr wrap="none">
            <a:spAutoFit/>
          </a:bodyPr>
          <a:lstStyle/>
          <a:p>
            <a:pPr>
              <a:defRPr sz="1700" b="1">
                <a:solidFill>
                  <a:srgbClr val="FFB914"/>
                </a:solidFill>
              </a:defRPr>
            </a:pPr>
            <a:r>
              <a:t>2. Running Real Sound Studio (Web)</a:t>
            </a:r>
          </a:p>
        </p:txBody>
      </p:sp>
      <p:sp>
        <p:nvSpPr>
          <p:cNvPr id="12" name="TextBox 11"/>
          <p:cNvSpPr txBox="1"/>
          <p:nvPr/>
        </p:nvSpPr>
        <p:spPr>
          <a:xfrm>
            <a:off x="6537960" y="1965960"/>
            <a:ext cx="4663440" cy="274320"/>
          </a:xfrm>
          <a:prstGeom prst="rect">
            <a:avLst/>
          </a:prstGeom>
          <a:noFill/>
        </p:spPr>
        <p:txBody>
          <a:bodyPr wrap="none">
            <a:spAutoFit/>
          </a:bodyPr>
          <a:lstStyle/>
          <a:p>
            <a:pPr>
              <a:defRPr sz="1100">
                <a:solidFill>
                  <a:srgbClr val="AAAFBE"/>
                </a:solidFill>
              </a:defRPr>
            </a:pPr>
            <a:r>
              <a:t>Realistic Sound Demo</a:t>
            </a:r>
          </a:p>
        </p:txBody>
      </p:sp>
      <p:sp>
        <p:nvSpPr>
          <p:cNvPr id="13" name="TextBox 12"/>
          <p:cNvSpPr txBox="1"/>
          <p:nvPr/>
        </p:nvSpPr>
        <p:spPr>
          <a:xfrm>
            <a:off x="6537960" y="2240280"/>
            <a:ext cx="4663440" cy="3931920"/>
          </a:xfrm>
          <a:prstGeom prst="rect">
            <a:avLst/>
          </a:prstGeom>
          <a:noFill/>
        </p:spPr>
        <p:txBody>
          <a:bodyPr wrap="square">
            <a:spAutoFit/>
          </a:bodyPr>
          <a:lstStyle/>
          <a:p>
            <a:pPr>
              <a:spcAft>
                <a:spcPts val="700"/>
              </a:spcAft>
              <a:defRPr sz="1300">
                <a:solidFill>
                  <a:srgbClr val="F5F5F8"/>
                </a:solidFill>
              </a:defRPr>
            </a:pPr>
            <a:r>
              <a:t>•  Step 1: Go to your Desktop or Downloads folder.</a:t>
            </a:r>
          </a:p>
          <a:p>
            <a:pPr>
              <a:spcAft>
                <a:spcPts val="700"/>
              </a:spcAft>
              <a:defRPr sz="1300">
                <a:solidFill>
                  <a:srgbClr val="F5F5F8"/>
                </a:solidFill>
              </a:defRPr>
            </a:pPr>
            <a:r>
              <a:t>•  Step 2: Double-click 'CrimsonOrbit_RealStudio.html'.</a:t>
            </a:r>
          </a:p>
          <a:p>
            <a:pPr>
              <a:spcAft>
                <a:spcPts val="700"/>
              </a:spcAft>
              <a:defRPr sz="1300">
                <a:solidFill>
                  <a:srgbClr val="F5F5F8"/>
                </a:solidFill>
              </a:defRPr>
            </a:pPr>
            <a:r>
              <a:t>•  Step 3: It opens instantly in Chrome or Edge without needing any server.</a:t>
            </a:r>
          </a:p>
          <a:p>
            <a:pPr>
              <a:spcAft>
                <a:spcPts val="700"/>
              </a:spcAft>
              <a:defRPr sz="1300">
                <a:solidFill>
                  <a:srgbClr val="F5F5F8"/>
                </a:solidFill>
              </a:defRPr>
            </a:pPr>
            <a:r>
              <a:t>•  Step 4: Click 'Audio Engine Ready' or play keys Q to I.</a:t>
            </a:r>
          </a:p>
          <a:p>
            <a:pPr>
              <a:spcAft>
                <a:spcPts val="700"/>
              </a:spcAft>
              <a:defRPr sz="1300">
                <a:solidFill>
                  <a:srgbClr val="F5F5F8"/>
                </a:solidFill>
              </a:defRPr>
            </a:pPr>
            <a:r>
              <a:t>•  Result: You will hear real Steinway grand piano, real Martin guitar, and real Ludwig drums with a moving visualizer!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none">
            <a:spAutoFit/>
          </a:bodyPr>
          <a:lstStyle/>
          <a:p>
            <a:pPr>
              <a:defRPr sz="1100" b="1">
                <a:solidFill>
                  <a:srgbClr val="FFB914"/>
                </a:solidFill>
              </a:defRPr>
            </a:pPr>
            <a:r>
              <a:t>MICROPROCESSOR PROJECT • GROUP - 9</a:t>
            </a:r>
          </a:p>
        </p:txBody>
      </p:sp>
      <p:sp>
        <p:nvSpPr>
          <p:cNvPr id="4" name="TextBox 3"/>
          <p:cNvSpPr txBox="1"/>
          <p:nvPr/>
        </p:nvSpPr>
        <p:spPr>
          <a:xfrm>
            <a:off x="731520" y="640080"/>
            <a:ext cx="10515600" cy="594360"/>
          </a:xfrm>
          <a:prstGeom prst="rect">
            <a:avLst/>
          </a:prstGeom>
          <a:noFill/>
        </p:spPr>
        <p:txBody>
          <a:bodyPr wrap="none">
            <a:spAutoFit/>
          </a:bodyPr>
          <a:lstStyle/>
          <a:p>
            <a:pPr>
              <a:defRPr sz="2500" b="1">
                <a:solidFill>
                  <a:srgbClr val="F5F5F8"/>
                </a:solidFill>
              </a:defRPr>
            </a:pPr>
            <a:r>
              <a:t>Technical Defense Guide — Questions &amp; Answers</a:t>
            </a:r>
          </a:p>
        </p:txBody>
      </p:sp>
      <p:sp>
        <p:nvSpPr>
          <p:cNvPr id="5" name="Rectangle 4"/>
          <p:cNvSpPr/>
          <p:nvPr/>
        </p:nvSpPr>
        <p:spPr>
          <a:xfrm>
            <a:off x="731520" y="1280160"/>
            <a:ext cx="10728655" cy="27432"/>
          </a:xfrm>
          <a:prstGeom prst="rect">
            <a:avLst/>
          </a:prstGeom>
          <a:solidFill>
            <a:srgbClr val="EB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20640" cy="23317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27632"/>
            <a:ext cx="4663440" cy="365760"/>
          </a:xfrm>
          <a:prstGeom prst="rect">
            <a:avLst/>
          </a:prstGeom>
          <a:noFill/>
        </p:spPr>
        <p:txBody>
          <a:bodyPr wrap="none">
            <a:spAutoFit/>
          </a:bodyPr>
          <a:lstStyle/>
          <a:p>
            <a:pPr>
              <a:defRPr sz="1700" b="1">
                <a:solidFill>
                  <a:srgbClr val="EB3C3C"/>
                </a:solidFill>
              </a:defRPr>
            </a:pPr>
            <a:r>
              <a:t>Piano &amp; System Architecture</a:t>
            </a:r>
          </a:p>
        </p:txBody>
      </p:sp>
      <p:sp>
        <p:nvSpPr>
          <p:cNvPr id="8" name="TextBox 7"/>
          <p:cNvSpPr txBox="1"/>
          <p:nvPr/>
        </p:nvSpPr>
        <p:spPr>
          <a:xfrm>
            <a:off x="960120" y="2029968"/>
            <a:ext cx="4663440" cy="1627632"/>
          </a:xfrm>
          <a:prstGeom prst="rect">
            <a:avLst/>
          </a:prstGeom>
          <a:noFill/>
        </p:spPr>
        <p:txBody>
          <a:bodyPr wrap="square">
            <a:spAutoFit/>
          </a:bodyPr>
          <a:lstStyle/>
          <a:p>
            <a:pPr>
              <a:spcAft>
                <a:spcPts val="700"/>
              </a:spcAft>
              <a:defRPr sz="1300">
                <a:solidFill>
                  <a:srgbClr val="F5F5F8"/>
                </a:solidFill>
              </a:defRPr>
            </a:pPr>
            <a:r>
              <a:t>•  Q: How does sound work in emu8086?</a:t>
            </a:r>
          </a:p>
          <a:p>
            <a:pPr>
              <a:spcAft>
                <a:spcPts val="700"/>
              </a:spcAft>
              <a:defRPr sz="1300">
                <a:solidFill>
                  <a:srgbClr val="F5F5F8"/>
                </a:solidFill>
              </a:defRPr>
            </a:pPr>
            <a:r>
              <a:t>•  A: We program the sound ports by calculating note divisor values and sending them to the timer, then turn on the PC speaker gate.</a:t>
            </a:r>
          </a:p>
          <a:p>
            <a:pPr>
              <a:spcAft>
                <a:spcPts val="700"/>
              </a:spcAft>
              <a:defRPr sz="1300">
                <a:solidFill>
                  <a:srgbClr val="F5F5F8"/>
                </a:solidFill>
              </a:defRPr>
            </a:pPr>
            <a:r>
              <a:t>•  Q: Why did we build the web studio too?</a:t>
            </a:r>
          </a:p>
          <a:p>
            <a:pPr>
              <a:spcAft>
                <a:spcPts val="700"/>
              </a:spcAft>
              <a:defRPr sz="1300">
                <a:solidFill>
                  <a:srgbClr val="F5F5F8"/>
                </a:solidFill>
              </a:defRPr>
            </a:pPr>
            <a:r>
              <a:t>•  A: The PC speaker in emu8086 only makes electronic beeps. We built the web studio to show how our assembly music sounds on real instruments.</a:t>
            </a:r>
          </a:p>
        </p:txBody>
      </p:sp>
      <p:sp>
        <p:nvSpPr>
          <p:cNvPr id="9" name="Rounded Rectangle 8"/>
          <p:cNvSpPr/>
          <p:nvPr/>
        </p:nvSpPr>
        <p:spPr>
          <a:xfrm>
            <a:off x="6309360" y="1463040"/>
            <a:ext cx="5120640" cy="233172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627632"/>
            <a:ext cx="4663440" cy="365760"/>
          </a:xfrm>
          <a:prstGeom prst="rect">
            <a:avLst/>
          </a:prstGeom>
          <a:noFill/>
        </p:spPr>
        <p:txBody>
          <a:bodyPr wrap="none">
            <a:spAutoFit/>
          </a:bodyPr>
          <a:lstStyle/>
          <a:p>
            <a:pPr>
              <a:defRPr sz="1700" b="1">
                <a:solidFill>
                  <a:srgbClr val="FFB914"/>
                </a:solidFill>
              </a:defRPr>
            </a:pPr>
            <a:r>
              <a:t>Guitar &amp; Drums Modules</a:t>
            </a:r>
          </a:p>
        </p:txBody>
      </p:sp>
      <p:sp>
        <p:nvSpPr>
          <p:cNvPr id="11" name="TextBox 10"/>
          <p:cNvSpPr txBox="1"/>
          <p:nvPr/>
        </p:nvSpPr>
        <p:spPr>
          <a:xfrm>
            <a:off x="6537960" y="2029968"/>
            <a:ext cx="4663440" cy="1627632"/>
          </a:xfrm>
          <a:prstGeom prst="rect">
            <a:avLst/>
          </a:prstGeom>
          <a:noFill/>
        </p:spPr>
        <p:txBody>
          <a:bodyPr wrap="square">
            <a:spAutoFit/>
          </a:bodyPr>
          <a:lstStyle/>
          <a:p>
            <a:pPr>
              <a:spcAft>
                <a:spcPts val="700"/>
              </a:spcAft>
              <a:defRPr sz="1300">
                <a:solidFill>
                  <a:srgbClr val="F5F5F8"/>
                </a:solidFill>
              </a:defRPr>
            </a:pPr>
            <a:r>
              <a:t>•  Guitar: We coded the 6 strings, added pick strike sound effects, singing vibrato, and full chord strumming on key [S], paired with Martin acoustic guitar sounds.</a:t>
            </a:r>
          </a:p>
          <a:p>
            <a:pPr>
              <a:spcAft>
                <a:spcPts val="700"/>
              </a:spcAft>
              <a:defRPr sz="1300">
                <a:solidFill>
                  <a:srgbClr val="F5F5F8"/>
                </a:solidFill>
              </a:defRPr>
            </a:pPr>
            <a:r>
              <a:t>•  Drums: We wrote a random noise generator in assembly to create white noise for snares and cymbals, paired with real Ludwig acoustic drum recordings.</a:t>
            </a:r>
          </a:p>
        </p:txBody>
      </p:sp>
      <p:sp>
        <p:nvSpPr>
          <p:cNvPr id="12" name="Rounded Rectangle 11"/>
          <p:cNvSpPr/>
          <p:nvPr/>
        </p:nvSpPr>
        <p:spPr>
          <a:xfrm>
            <a:off x="731520" y="3931920"/>
            <a:ext cx="5120640" cy="237744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096512"/>
            <a:ext cx="4663440" cy="365760"/>
          </a:xfrm>
          <a:prstGeom prst="rect">
            <a:avLst/>
          </a:prstGeom>
          <a:noFill/>
        </p:spPr>
        <p:txBody>
          <a:bodyPr wrap="none">
            <a:spAutoFit/>
          </a:bodyPr>
          <a:lstStyle/>
          <a:p>
            <a:pPr>
              <a:defRPr sz="1700" b="1">
                <a:solidFill>
                  <a:srgbClr val="00E678"/>
                </a:solidFill>
              </a:defRPr>
            </a:pPr>
            <a:r>
              <a:t>Songs &amp; Music Visualizer</a:t>
            </a:r>
          </a:p>
        </p:txBody>
      </p:sp>
      <p:sp>
        <p:nvSpPr>
          <p:cNvPr id="14" name="TextBox 13"/>
          <p:cNvSpPr txBox="1"/>
          <p:nvPr/>
        </p:nvSpPr>
        <p:spPr>
          <a:xfrm>
            <a:off x="960120" y="4498848"/>
            <a:ext cx="4663440" cy="1673352"/>
          </a:xfrm>
          <a:prstGeom prst="rect">
            <a:avLst/>
          </a:prstGeom>
          <a:noFill/>
        </p:spPr>
        <p:txBody>
          <a:bodyPr wrap="square">
            <a:spAutoFit/>
          </a:bodyPr>
          <a:lstStyle/>
          <a:p>
            <a:pPr>
              <a:spcAft>
                <a:spcPts val="700"/>
              </a:spcAft>
              <a:defRPr sz="1300">
                <a:solidFill>
                  <a:srgbClr val="F5F5F8"/>
                </a:solidFill>
              </a:defRPr>
            </a:pPr>
            <a:r>
              <a:t>•  Songs: We stored the notes and delay timers for 6 classic songs in assembly and mapped them to the web studio.</a:t>
            </a:r>
          </a:p>
          <a:p>
            <a:pPr>
              <a:spcAft>
                <a:spcPts val="700"/>
              </a:spcAft>
              <a:defRPr sz="1300">
                <a:solidFill>
                  <a:srgbClr val="F5F5F8"/>
                </a:solidFill>
              </a:defRPr>
            </a:pPr>
            <a:r>
              <a:t>•  Visualizer: We built the automatic song player in emu8086, added animated equalizer bars, and made sure pressing [ESC] stops the song anytime.</a:t>
            </a:r>
          </a:p>
        </p:txBody>
      </p:sp>
      <p:sp>
        <p:nvSpPr>
          <p:cNvPr id="15" name="Rounded Rectangle 14"/>
          <p:cNvSpPr/>
          <p:nvPr/>
        </p:nvSpPr>
        <p:spPr>
          <a:xfrm>
            <a:off x="6309360" y="3931920"/>
            <a:ext cx="5120640" cy="2377440"/>
          </a:xfrm>
          <a:prstGeom prst="roundRect">
            <a:avLst/>
          </a:prstGeom>
          <a:solidFill>
            <a:srgbClr val="191E2A"/>
          </a:solidFill>
          <a:ln w="19050">
            <a:solidFill>
              <a:srgbClr val="4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4096512"/>
            <a:ext cx="4663440" cy="365760"/>
          </a:xfrm>
          <a:prstGeom prst="rect">
            <a:avLst/>
          </a:prstGeom>
          <a:noFill/>
        </p:spPr>
        <p:txBody>
          <a:bodyPr wrap="none">
            <a:spAutoFit/>
          </a:bodyPr>
          <a:lstStyle/>
          <a:p>
            <a:pPr>
              <a:defRPr sz="1700" b="1">
                <a:solidFill>
                  <a:srgbClr val="F5F5F8"/>
                </a:solidFill>
              </a:defRPr>
            </a:pPr>
            <a:r>
              <a:t>Project Summary Statement</a:t>
            </a:r>
          </a:p>
        </p:txBody>
      </p:sp>
      <p:sp>
        <p:nvSpPr>
          <p:cNvPr id="17" name="TextBox 16"/>
          <p:cNvSpPr txBox="1"/>
          <p:nvPr/>
        </p:nvSpPr>
        <p:spPr>
          <a:xfrm>
            <a:off x="6537960" y="4498848"/>
            <a:ext cx="4663440" cy="1673352"/>
          </a:xfrm>
          <a:prstGeom prst="rect">
            <a:avLst/>
          </a:prstGeom>
          <a:noFill/>
        </p:spPr>
        <p:txBody>
          <a:bodyPr wrap="square">
            <a:spAutoFit/>
          </a:bodyPr>
          <a:lstStyle/>
          <a:p>
            <a:pPr>
              <a:spcAft>
                <a:spcPts val="700"/>
              </a:spcAft>
              <a:defRPr sz="1300">
                <a:solidFill>
                  <a:srgbClr val="F5F5F8"/>
                </a:solidFill>
              </a:defRPr>
            </a:pPr>
            <a:r>
              <a:t>•  "Professor, this project shows we learned 8086 assembly language in emu8086 to control hardware and keyboard inputs, and we also showed how our music sounds on real acoustic instruments in modern studio quality!"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